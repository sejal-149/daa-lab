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Lst>
  <p:notesMasterIdLst>
    <p:notesMasterId r:id="rId6"/>
  </p:notesMasterIdLst>
  <p:sldSz cx="12191695" cy="6858000"/>
  <p:notesSz cx="6858000" cy="12191695"/>
  <p:embeddedFontLst>
    <p:embeddedFont>
      <p:font typeface="Azeret Mono"/>
      <p:regular r:id="rId201314"/>
    </p:embeddedFont>
    <p:embeddedFont>
      <p:font typeface="Azeret Mono Medium"/>
      <p:regular r:id="rId201315"/>
    </p:embeddedFont>
    <p:embeddedFont>
      <p:font typeface="Azeret Mono Bold"/>
      <p:regular r:id="rId201316"/>
    </p:embeddedFont>
    <p:embeddedFont>
      <p:font typeface="Krona One"/>
      <p:regular r:id="rId201317"/>
    </p:embeddedFont>
    <p:embeddedFont>
      <p:font typeface="Open Sans Bold"/>
      <p:regular r:id="rId201318"/>
    </p:embeddedFont>
    <p:embeddedFont>
      <p:font typeface="Open Sans"/>
      <p:regular r:id="rId201319"/>
    </p:embeddedFont>
    <p:embeddedFont>
      <p:font typeface="Open Sans SemiBold"/>
      <p:regular r:id="rId20132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lecture problem: evaluating the standard Fibonacci recurrence. Highlight the base cases and write out the first nine terms. Point out that because subproblems overlap, naive division leads to redundant recalculations.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the two recursion graphs. On the left, emphasize how calls proliferate exponentially because the right subtree repeats subproblems already solved on the left. On the right, show how caching turns deep subtrees into instant O(1) returns.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line-by-line through the algorithm. Explain why a sentinel value like -1 is used, how the base case triggers, and how the memo check prunes duplicate subtrees before the recursive step executes.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 the audience to the horizontal bar chart showing the astronomical divergence at n=20: over 1,000,000 operations for naive recursion versus 20 calls with memoization. Conclude with the space complexity trade-off and preview bottom-up tabulation.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4F46"/>
        </a:solidFill>
      </p:bgPr>
    </p:bg>
    <p:spTree>
      <p:nvGrpSpPr>
        <p:cNvPr id="1" name=""/>
        <p:cNvGrpSpPr/>
        <p:nvPr/>
      </p:nvGrpSpPr>
      <p:grpSpPr>
        <a:xfrm>
          <a:off x="0" y="0"/>
          <a:ext cx="0" cy="0"/>
          <a:chOff x="0" y="0"/>
          <a:chExt cx="0" cy="0"/>
        </a:xfrm>
      </p:grpSpPr>
      <p:pic>
        <p:nvPicPr>
          <p:cNvPr id="2"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253122"/>
        </a:solidFill>
      </p:bgPr>
    </p:bg>
    <p:spTree>
      <p:nvGrpSpPr>
        <p:cNvPr id="1" name=""/>
        <p:cNvGrpSpPr/>
        <p:nvPr/>
      </p:nvGrpSpPr>
      <p:grpSpPr>
        <a:xfrm>
          <a:off x="0" y="0"/>
          <a:ext cx="0" cy="0"/>
          <a:chOff x="0" y="0"/>
          <a:chExt cx="0" cy="0"/>
        </a:xfrm>
      </p:grpSpPr>
      <p:pic>
        <p:nvPicPr>
          <p:cNvPr id="2"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3.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3.png"/><Relationship Id="rId5" Type="http://schemas.openxmlformats.org/officeDocument/2006/relationships/image" Target="../media/image-4-3.png"/><Relationship Id="rId6" Type="http://schemas.openxmlformats.org/officeDocument/2006/relationships/image" Target="../media/image-4-3.png"/><Relationship Id="rId7" Type="http://schemas.openxmlformats.org/officeDocument/2006/relationships/image" Target="../media/image-4-7.png"/><Relationship Id="rId8" Type="http://schemas.openxmlformats.org/officeDocument/2006/relationships/slideLayout" Target="../slideLayouts/slideLayout3.xml"/><Relationship Id="rId9"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09585" y="616585"/>
            <a:ext cx="11582110" cy="181570"/>
          </a:xfrm>
          <a:prstGeom prst="rect">
            <a:avLst/>
          </a:prstGeom>
          <a:noFill/>
          <a:ln/>
        </p:spPr>
        <p:txBody>
          <a:bodyPr wrap="none" lIns="0" tIns="0" rIns="0" bIns="0" rtlCol="0" anchor="t"/>
          <a:lstStyle/>
          <a:p>
            <a:pPr algn="l" indent="0" marL="0">
              <a:lnSpc>
                <a:spcPct val="108000"/>
              </a:lnSpc>
              <a:buNone/>
            </a:pPr>
            <a:r>
              <a:rPr lang="en-US" sz="1100" spc="132" kern="100" dirty="0">
                <a:solidFill>
                  <a:srgbClr val="BFD3CB"/>
                </a:solidFill>
                <a:latin typeface="Azeret Mono Medium" pitchFamily="34" charset="0"/>
                <a:ea typeface="Azeret Mono Medium" pitchFamily="34" charset="-122"/>
                <a:cs typeface="Azeret Mono Medium" pitchFamily="34" charset="-120"/>
              </a:rPr>
              <a:t>DAA · DYNAMIC PROGRAMMING FOUNDATIONS</a:t>
            </a:r>
            <a:endParaRPr lang="en-US" sz="1100" dirty="0"/>
          </a:p>
        </p:txBody>
      </p:sp>
      <p:sp>
        <p:nvSpPr>
          <p:cNvPr id="3" name="Text 1"/>
          <p:cNvSpPr/>
          <p:nvPr/>
        </p:nvSpPr>
        <p:spPr>
          <a:xfrm>
            <a:off x="609585" y="911185"/>
            <a:ext cx="10972526" cy="1061442"/>
          </a:xfrm>
          <a:prstGeom prst="rect">
            <a:avLst/>
          </a:prstGeom>
          <a:noFill/>
          <a:ln/>
        </p:spPr>
        <p:txBody>
          <a:bodyPr wrap="square" lIns="0" tIns="0" rIns="0" bIns="0" rtlCol="0" anchor="t">
            <a:normAutofit/>
          </a:bodyPr>
          <a:lstStyle/>
          <a:p>
            <a:pPr algn="l" indent="0" marL="0">
              <a:lnSpc>
                <a:spcPct val="90000"/>
              </a:lnSpc>
              <a:buNone/>
            </a:pPr>
            <a:r>
              <a:rPr lang="en-US" sz="3600" spc="-108" kern="100" dirty="0">
                <a:solidFill>
                  <a:srgbClr val="F4EFEA"/>
                </a:solidFill>
                <a:latin typeface="Krona One" pitchFamily="34" charset="0"/>
                <a:ea typeface="Krona One" pitchFamily="34" charset="-122"/>
                <a:cs typeface="Krona One" pitchFamily="34" charset="-120"/>
              </a:rPr>
              <a:t>Compute </a:t>
            </a:r>
            <a:pPr algn="l" indent="0" marL="0">
              <a:lnSpc>
                <a:spcPct val="90000"/>
              </a:lnSpc>
              <a:buNone/>
            </a:pPr>
            <a:r>
              <a:rPr lang="en-US" sz="3400" i="1" spc="-108" kern="100" dirty="0">
                <a:solidFill>
                  <a:srgbClr val="F4EFEA"/>
                </a:solidFill>
                <a:latin typeface="Krona One" pitchFamily="34" charset="0"/>
                <a:ea typeface="Krona One" pitchFamily="34" charset="-122"/>
                <a:cs typeface="Krona One" pitchFamily="34" charset="-120"/>
              </a:rPr>
              <a:t>   </a:t>
            </a:r>
            <a:pPr algn="l" indent="0" marL="0">
              <a:lnSpc>
                <a:spcPct val="90000"/>
              </a:lnSpc>
              <a:buNone/>
            </a:pPr>
            <a:r>
              <a:rPr lang="en-US" sz="3600" spc="-108" kern="100" dirty="0">
                <a:solidFill>
                  <a:srgbClr val="F4EFEA"/>
                </a:solidFill>
                <a:latin typeface="Krona One" pitchFamily="34" charset="0"/>
                <a:ea typeface="Krona One" pitchFamily="34" charset="-122"/>
                <a:cs typeface="Krona One" pitchFamily="34" charset="-120"/>
              </a:rPr>
              <a:t> without</a:t>
            </a:r>
            <a:endParaRPr lang="en-US" sz="3600" dirty="0"/>
          </a:p>
          <a:p>
            <a:pPr algn="l" indent="0" marL="0">
              <a:lnSpc>
                <a:spcPct val="90000"/>
              </a:lnSpc>
              <a:buNone/>
            </a:pPr>
            <a:r>
              <a:rPr lang="en-US" sz="3600" spc="-108" kern="100" dirty="0">
                <a:solidFill>
                  <a:srgbClr val="F58E84"/>
                </a:solidFill>
                <a:latin typeface="Krona One" pitchFamily="34" charset="0"/>
                <a:ea typeface="Krona One" pitchFamily="34" charset="-122"/>
                <a:cs typeface="Krona One" pitchFamily="34" charset="-120"/>
              </a:rPr>
              <a:t>repeating work</a:t>
            </a:r>
            <a:endParaRPr lang="en-US" sz="3600" dirty="0"/>
          </a:p>
        </p:txBody>
      </p:sp>
      <p:pic>
        <p:nvPicPr>
          <p:cNvPr id="4" name="Image 0" descr="preencoded.png">    </p:cNvPr>
          <p:cNvPicPr>
            <a:picLocks noChangeAspect="1"/>
          </p:cNvPicPr>
          <p:nvPr/>
        </p:nvPicPr>
        <p:blipFill>
          <a:blip r:embed="rId1"/>
          <a:stretch>
            <a:fillRect/>
          </a:stretch>
        </p:blipFill>
        <p:spPr>
          <a:xfrm>
            <a:off x="3429212" y="876895"/>
            <a:ext cx="965176" cy="567730"/>
          </a:xfrm>
          <a:prstGeom prst="rect">
            <a:avLst/>
          </a:prstGeom>
        </p:spPr>
      </p:pic>
      <p:sp>
        <p:nvSpPr>
          <p:cNvPr id="5" name="Shape 2"/>
          <p:cNvSpPr/>
          <p:nvPr/>
        </p:nvSpPr>
        <p:spPr>
          <a:xfrm>
            <a:off x="609585" y="2208212"/>
            <a:ext cx="3620798" cy="279301"/>
          </a:xfrm>
          <a:prstGeom prst="roundRect">
            <a:avLst>
              <a:gd name="adj" fmla="val 49999"/>
            </a:avLst>
          </a:prstGeom>
          <a:solidFill>
            <a:srgbClr val="F58E84"/>
          </a:solidFill>
          <a:ln/>
        </p:spPr>
      </p:sp>
      <p:sp>
        <p:nvSpPr>
          <p:cNvPr id="6" name="Shape 3"/>
          <p:cNvSpPr/>
          <p:nvPr/>
        </p:nvSpPr>
        <p:spPr>
          <a:xfrm>
            <a:off x="609585" y="2719388"/>
            <a:ext cx="4978275" cy="2595761"/>
          </a:xfrm>
          <a:prstGeom prst="rect">
            <a:avLst/>
          </a:prstGeom>
          <a:solidFill>
            <a:srgbClr val="253122"/>
          </a:solidFill>
          <a:ln/>
        </p:spPr>
      </p:sp>
      <p:sp>
        <p:nvSpPr>
          <p:cNvPr id="7" name="Text 4"/>
          <p:cNvSpPr/>
          <p:nvPr/>
        </p:nvSpPr>
        <p:spPr>
          <a:xfrm>
            <a:off x="838179" y="2929572"/>
            <a:ext cx="4749681" cy="181570"/>
          </a:xfrm>
          <a:prstGeom prst="rect">
            <a:avLst/>
          </a:prstGeom>
          <a:noFill/>
          <a:ln/>
        </p:spPr>
        <p:txBody>
          <a:bodyPr wrap="none" lIns="0" tIns="0" rIns="0" bIns="0" rtlCol="0" anchor="t"/>
          <a:lstStyle/>
          <a:p>
            <a:pPr algn="l" indent="0" marL="0">
              <a:lnSpc>
                <a:spcPct val="108000"/>
              </a:lnSpc>
              <a:buNone/>
            </a:pPr>
            <a:r>
              <a:rPr lang="en-US" sz="1100" spc="132" kern="100" dirty="0">
                <a:solidFill>
                  <a:srgbClr val="F4EFEA"/>
                </a:solidFill>
                <a:latin typeface="Azeret Mono Medium" pitchFamily="34" charset="0"/>
                <a:ea typeface="Azeret Mono Medium" pitchFamily="34" charset="-122"/>
                <a:cs typeface="Azeret Mono Medium" pitchFamily="34" charset="-120"/>
              </a:rPr>
              <a:t>RECURRENCE RELATION</a:t>
            </a:r>
            <a:endParaRPr lang="en-US" sz="1100" dirty="0"/>
          </a:p>
        </p:txBody>
      </p:sp>
      <p:pic>
        <p:nvPicPr>
          <p:cNvPr id="8" name="Image 1" descr="preencoded.png">    </p:cNvPr>
          <p:cNvPicPr>
            <a:picLocks noChangeAspect="1"/>
          </p:cNvPicPr>
          <p:nvPr/>
        </p:nvPicPr>
        <p:blipFill>
          <a:blip r:embed="rId2"/>
          <a:stretch>
            <a:fillRect/>
          </a:stretch>
        </p:blipFill>
        <p:spPr>
          <a:xfrm>
            <a:off x="838179" y="3231158"/>
            <a:ext cx="4521087" cy="371673"/>
          </a:xfrm>
          <a:prstGeom prst="rect">
            <a:avLst/>
          </a:prstGeom>
        </p:spPr>
      </p:pic>
      <p:pic>
        <p:nvPicPr>
          <p:cNvPr id="9" name="Image 2" descr="preencoded.png">    </p:cNvPr>
          <p:cNvPicPr>
            <a:picLocks noChangeAspect="1"/>
          </p:cNvPicPr>
          <p:nvPr/>
        </p:nvPicPr>
        <p:blipFill>
          <a:blip r:embed="rId3"/>
          <a:stretch>
            <a:fillRect/>
          </a:stretch>
        </p:blipFill>
        <p:spPr>
          <a:xfrm>
            <a:off x="838179" y="3729831"/>
            <a:ext cx="4521087" cy="371673"/>
          </a:xfrm>
          <a:prstGeom prst="rect">
            <a:avLst/>
          </a:prstGeom>
        </p:spPr>
      </p:pic>
      <p:sp>
        <p:nvSpPr>
          <p:cNvPr id="10" name="Text 5"/>
          <p:cNvSpPr/>
          <p:nvPr/>
        </p:nvSpPr>
        <p:spPr>
          <a:xfrm>
            <a:off x="838179" y="4230886"/>
            <a:ext cx="4521087" cy="552450"/>
          </a:xfrm>
          <a:prstGeom prst="rect">
            <a:avLst/>
          </a:prstGeom>
          <a:noFill/>
          <a:ln/>
        </p:spPr>
        <p:txBody>
          <a:bodyPr wrap="square" lIns="0" tIns="0" rIns="0" bIns="0" rtlCol="0" anchor="t">
            <a:normAutofit/>
          </a:bodyPr>
          <a:lstStyle/>
          <a:p>
            <a:pPr algn="l" indent="0" marL="0">
              <a:lnSpc>
                <a:spcPct val="121000"/>
              </a:lnSpc>
              <a:buNone/>
            </a:pPr>
            <a:r>
              <a:rPr lang="en-US" sz="1500" dirty="0">
                <a:solidFill>
                  <a:srgbClr val="F4EFEA"/>
                </a:solidFill>
                <a:latin typeface="Open Sans" pitchFamily="34" charset="0"/>
                <a:ea typeface="Open Sans" pitchFamily="34" charset="-122"/>
                <a:cs typeface="Open Sans" pitchFamily="34" charset="-120"/>
              </a:rPr>
              <a:t>Objective: evaluate the </a:t>
            </a:r>
            <a:pPr algn="l" indent="0" marL="0">
              <a:lnSpc>
                <a:spcPct val="121000"/>
              </a:lnSpc>
              <a:buNone/>
            </a:pPr>
            <a:r>
              <a:rPr lang="en-US" sz="1450" i="1" dirty="0">
                <a:solidFill>
                  <a:srgbClr val="F4EFEA"/>
                </a:solidFill>
                <a:latin typeface="Open Sans" pitchFamily="34" charset="0"/>
                <a:ea typeface="Open Sans" pitchFamily="34" charset="-122"/>
                <a:cs typeface="Open Sans" pitchFamily="34" charset="-120"/>
              </a:rPr>
              <a:t> </a:t>
            </a:r>
            <a:pPr algn="l" indent="0" marL="0">
              <a:lnSpc>
                <a:spcPct val="121000"/>
              </a:lnSpc>
              <a:buNone/>
            </a:pPr>
            <a:r>
              <a:rPr lang="en-US" sz="1500" dirty="0">
                <a:solidFill>
                  <a:srgbClr val="F4EFEA"/>
                </a:solidFill>
                <a:latin typeface="Open Sans" pitchFamily="34" charset="0"/>
                <a:ea typeface="Open Sans" pitchFamily="34" charset="-122"/>
                <a:cs typeface="Open Sans" pitchFamily="34" charset="-120"/>
              </a:rPr>
              <a:t>-th term in linear rather than exponential time.</a:t>
            </a:r>
            <a:endParaRPr lang="en-US" sz="1500" dirty="0"/>
          </a:p>
        </p:txBody>
      </p:sp>
      <p:pic>
        <p:nvPicPr>
          <p:cNvPr id="11" name="Image 3" descr="preencoded.png">    </p:cNvPr>
          <p:cNvPicPr>
            <a:picLocks noChangeAspect="1"/>
          </p:cNvPicPr>
          <p:nvPr/>
        </p:nvPicPr>
        <p:blipFill>
          <a:blip r:embed="rId4"/>
          <a:stretch>
            <a:fillRect/>
          </a:stretch>
        </p:blipFill>
        <p:spPr>
          <a:xfrm>
            <a:off x="2911204" y="4266605"/>
            <a:ext cx="134636" cy="236041"/>
          </a:xfrm>
          <a:prstGeom prst="rect">
            <a:avLst/>
          </a:prstGeom>
        </p:spPr>
      </p:pic>
      <p:sp>
        <p:nvSpPr>
          <p:cNvPr id="12" name="Shape 6"/>
          <p:cNvSpPr/>
          <p:nvPr/>
        </p:nvSpPr>
        <p:spPr>
          <a:xfrm>
            <a:off x="5892553" y="2719388"/>
            <a:ext cx="5689557" cy="2595761"/>
          </a:xfrm>
          <a:prstGeom prst="rect">
            <a:avLst/>
          </a:prstGeom>
          <a:solidFill>
            <a:srgbClr val="253122"/>
          </a:solidFill>
          <a:ln/>
        </p:spPr>
      </p:sp>
      <p:sp>
        <p:nvSpPr>
          <p:cNvPr id="13" name="Text 7"/>
          <p:cNvSpPr/>
          <p:nvPr/>
        </p:nvSpPr>
        <p:spPr>
          <a:xfrm>
            <a:off x="6121148" y="2929572"/>
            <a:ext cx="5460963" cy="181570"/>
          </a:xfrm>
          <a:prstGeom prst="rect">
            <a:avLst/>
          </a:prstGeom>
          <a:noFill/>
          <a:ln/>
        </p:spPr>
        <p:txBody>
          <a:bodyPr wrap="none" lIns="0" tIns="0" rIns="0" bIns="0" rtlCol="0" anchor="t"/>
          <a:lstStyle/>
          <a:p>
            <a:pPr algn="l" indent="0" marL="0">
              <a:lnSpc>
                <a:spcPct val="108000"/>
              </a:lnSpc>
              <a:buNone/>
            </a:pPr>
            <a:r>
              <a:rPr lang="en-US" sz="1100" spc="132" kern="100" dirty="0">
                <a:solidFill>
                  <a:srgbClr val="F4EFEA"/>
                </a:solidFill>
                <a:latin typeface="Azeret Mono Medium" pitchFamily="34" charset="0"/>
                <a:ea typeface="Azeret Mono Medium" pitchFamily="34" charset="-122"/>
                <a:cs typeface="Azeret Mono Medium" pitchFamily="34" charset="-120"/>
              </a:rPr>
              <a:t>SEQUENCE VALUE STRIP</a:t>
            </a:r>
            <a:endParaRPr lang="en-US" sz="1100" dirty="0"/>
          </a:p>
        </p:txBody>
      </p:sp>
      <p:sp>
        <p:nvSpPr>
          <p:cNvPr id="14" name="Text 8"/>
          <p:cNvSpPr/>
          <p:nvPr/>
        </p:nvSpPr>
        <p:spPr>
          <a:xfrm>
            <a:off x="6562858" y="3339743"/>
            <a:ext cx="1302412" cy="181570"/>
          </a:xfrm>
          <a:prstGeom prst="rect">
            <a:avLst/>
          </a:prstGeom>
          <a:noFill/>
          <a:ln/>
        </p:spPr>
        <p:txBody>
          <a:bodyPr wrap="none" lIns="0" tIns="0" rIns="0" bIns="0" rtlCol="0" anchor="t"/>
          <a:lstStyle/>
          <a:p>
            <a:pPr algn="l" indent="0" marL="0">
              <a:lnSpc>
                <a:spcPct val="108000"/>
              </a:lnSpc>
              <a:buNone/>
            </a:pPr>
            <a:r>
              <a:rPr lang="en-US" sz="1100" spc="132" kern="100" dirty="0">
                <a:solidFill>
                  <a:srgbClr val="F4EFEA"/>
                </a:solidFill>
                <a:latin typeface="Azeret Mono" pitchFamily="34" charset="0"/>
                <a:ea typeface="Azeret Mono" pitchFamily="34" charset="-122"/>
                <a:cs typeface="Azeret Mono" pitchFamily="34" charset="-120"/>
              </a:rPr>
              <a:t>n = 0..2</a:t>
            </a:r>
            <a:endParaRPr lang="en-US" sz="1100" dirty="0"/>
          </a:p>
        </p:txBody>
      </p:sp>
      <p:sp>
        <p:nvSpPr>
          <p:cNvPr id="15" name="Text 9"/>
          <p:cNvSpPr/>
          <p:nvPr/>
        </p:nvSpPr>
        <p:spPr>
          <a:xfrm>
            <a:off x="6542916" y="3721338"/>
            <a:ext cx="1642525" cy="346670"/>
          </a:xfrm>
          <a:prstGeom prst="rect">
            <a:avLst/>
          </a:prstGeom>
          <a:noFill/>
          <a:ln/>
        </p:spPr>
        <p:txBody>
          <a:bodyPr wrap="none" lIns="0" tIns="0" rIns="0" bIns="0" rtlCol="0" anchor="t"/>
          <a:lstStyle/>
          <a:p>
            <a:pPr algn="l" indent="0" marL="0">
              <a:lnSpc>
                <a:spcPct val="108000"/>
              </a:lnSpc>
              <a:buNone/>
            </a:pPr>
            <a:r>
              <a:rPr lang="en-US" sz="2100" spc="-63" kern="100" dirty="0">
                <a:solidFill>
                  <a:srgbClr val="F58E84"/>
                </a:solidFill>
                <a:latin typeface="Krona One" pitchFamily="34" charset="0"/>
                <a:ea typeface="Krona One" pitchFamily="34" charset="-122"/>
                <a:cs typeface="Krona One" pitchFamily="34" charset="-120"/>
              </a:rPr>
              <a:t>0, 1, 1</a:t>
            </a:r>
            <a:endParaRPr lang="en-US" sz="2100" dirty="0"/>
          </a:p>
        </p:txBody>
      </p:sp>
      <p:sp>
        <p:nvSpPr>
          <p:cNvPr id="16" name="Text 10"/>
          <p:cNvSpPr/>
          <p:nvPr/>
        </p:nvSpPr>
        <p:spPr>
          <a:xfrm>
            <a:off x="8306981" y="3339743"/>
            <a:ext cx="1302412" cy="181570"/>
          </a:xfrm>
          <a:prstGeom prst="rect">
            <a:avLst/>
          </a:prstGeom>
          <a:noFill/>
          <a:ln/>
        </p:spPr>
        <p:txBody>
          <a:bodyPr wrap="none" lIns="0" tIns="0" rIns="0" bIns="0" rtlCol="0" anchor="t"/>
          <a:lstStyle/>
          <a:p>
            <a:pPr algn="l" indent="0" marL="0">
              <a:lnSpc>
                <a:spcPct val="108000"/>
              </a:lnSpc>
              <a:buNone/>
            </a:pPr>
            <a:r>
              <a:rPr lang="en-US" sz="1100" spc="132" kern="100" dirty="0">
                <a:solidFill>
                  <a:srgbClr val="F4EFEA"/>
                </a:solidFill>
                <a:latin typeface="Azeret Mono" pitchFamily="34" charset="0"/>
                <a:ea typeface="Azeret Mono" pitchFamily="34" charset="-122"/>
                <a:cs typeface="Azeret Mono" pitchFamily="34" charset="-120"/>
              </a:rPr>
              <a:t>n = 3..5</a:t>
            </a:r>
            <a:endParaRPr lang="en-US" sz="1100" dirty="0"/>
          </a:p>
        </p:txBody>
      </p:sp>
      <p:sp>
        <p:nvSpPr>
          <p:cNvPr id="17" name="Text 11"/>
          <p:cNvSpPr/>
          <p:nvPr/>
        </p:nvSpPr>
        <p:spPr>
          <a:xfrm>
            <a:off x="8230982" y="3721338"/>
            <a:ext cx="1642525" cy="346670"/>
          </a:xfrm>
          <a:prstGeom prst="rect">
            <a:avLst/>
          </a:prstGeom>
          <a:noFill/>
          <a:ln/>
        </p:spPr>
        <p:txBody>
          <a:bodyPr wrap="none" lIns="0" tIns="0" rIns="0" bIns="0" rtlCol="0" anchor="t"/>
          <a:lstStyle/>
          <a:p>
            <a:pPr algn="l" indent="0" marL="0">
              <a:lnSpc>
                <a:spcPct val="108000"/>
              </a:lnSpc>
              <a:buNone/>
            </a:pPr>
            <a:r>
              <a:rPr lang="en-US" sz="2100" spc="-63" kern="100" dirty="0">
                <a:solidFill>
                  <a:srgbClr val="F58E84"/>
                </a:solidFill>
                <a:latin typeface="Krona One" pitchFamily="34" charset="0"/>
                <a:ea typeface="Krona One" pitchFamily="34" charset="-122"/>
                <a:cs typeface="Krona One" pitchFamily="34" charset="-120"/>
              </a:rPr>
              <a:t>2, 3, 5</a:t>
            </a:r>
            <a:endParaRPr lang="en-US" sz="2100" dirty="0"/>
          </a:p>
        </p:txBody>
      </p:sp>
      <p:sp>
        <p:nvSpPr>
          <p:cNvPr id="18" name="Text 12"/>
          <p:cNvSpPr/>
          <p:nvPr/>
        </p:nvSpPr>
        <p:spPr>
          <a:xfrm>
            <a:off x="10051104" y="3339743"/>
            <a:ext cx="1302412" cy="181570"/>
          </a:xfrm>
          <a:prstGeom prst="rect">
            <a:avLst/>
          </a:prstGeom>
          <a:noFill/>
          <a:ln/>
        </p:spPr>
        <p:txBody>
          <a:bodyPr wrap="none" lIns="0" tIns="0" rIns="0" bIns="0" rtlCol="0" anchor="t"/>
          <a:lstStyle/>
          <a:p>
            <a:pPr algn="l" indent="0" marL="0">
              <a:lnSpc>
                <a:spcPct val="108000"/>
              </a:lnSpc>
              <a:buNone/>
            </a:pPr>
            <a:r>
              <a:rPr lang="en-US" sz="1100" spc="132" kern="100" dirty="0">
                <a:solidFill>
                  <a:srgbClr val="F4EFEA"/>
                </a:solidFill>
                <a:latin typeface="Azeret Mono" pitchFamily="34" charset="0"/>
                <a:ea typeface="Azeret Mono" pitchFamily="34" charset="-122"/>
                <a:cs typeface="Azeret Mono" pitchFamily="34" charset="-120"/>
              </a:rPr>
              <a:t>n = 6..8</a:t>
            </a:r>
            <a:endParaRPr lang="en-US" sz="1100" dirty="0"/>
          </a:p>
        </p:txBody>
      </p:sp>
      <p:sp>
        <p:nvSpPr>
          <p:cNvPr id="19" name="Text 13"/>
          <p:cNvSpPr/>
          <p:nvPr/>
        </p:nvSpPr>
        <p:spPr>
          <a:xfrm>
            <a:off x="9816854" y="3721338"/>
            <a:ext cx="1642525" cy="346670"/>
          </a:xfrm>
          <a:prstGeom prst="rect">
            <a:avLst/>
          </a:prstGeom>
          <a:noFill/>
          <a:ln/>
        </p:spPr>
        <p:txBody>
          <a:bodyPr wrap="none" lIns="0" tIns="0" rIns="0" bIns="0" rtlCol="0" anchor="t"/>
          <a:lstStyle/>
          <a:p>
            <a:pPr algn="l" indent="0" marL="0">
              <a:lnSpc>
                <a:spcPct val="108000"/>
              </a:lnSpc>
              <a:buNone/>
            </a:pPr>
            <a:r>
              <a:rPr lang="en-US" sz="2100" spc="-63" kern="100" dirty="0">
                <a:solidFill>
                  <a:srgbClr val="F58E84"/>
                </a:solidFill>
                <a:latin typeface="Krona One" pitchFamily="34" charset="0"/>
                <a:ea typeface="Krona One" pitchFamily="34" charset="-122"/>
                <a:cs typeface="Krona One" pitchFamily="34" charset="-120"/>
              </a:rPr>
              <a:t>8, 13, 21</a:t>
            </a:r>
            <a:endParaRPr lang="en-US" sz="2100" dirty="0"/>
          </a:p>
        </p:txBody>
      </p:sp>
      <p:sp>
        <p:nvSpPr>
          <p:cNvPr id="20" name="Text 14"/>
          <p:cNvSpPr/>
          <p:nvPr/>
        </p:nvSpPr>
        <p:spPr>
          <a:xfrm>
            <a:off x="6121148" y="4285655"/>
            <a:ext cx="5232368" cy="828675"/>
          </a:xfrm>
          <a:prstGeom prst="rect">
            <a:avLst/>
          </a:prstGeom>
          <a:noFill/>
          <a:ln/>
        </p:spPr>
        <p:txBody>
          <a:bodyPr wrap="square" lIns="0" tIns="0" rIns="0" bIns="0" rtlCol="0" anchor="t">
            <a:normAutofit/>
          </a:bodyPr>
          <a:lstStyle/>
          <a:p>
            <a:pPr algn="l" indent="0" marL="0">
              <a:lnSpc>
                <a:spcPct val="121000"/>
              </a:lnSpc>
              <a:buNone/>
            </a:pPr>
            <a:r>
              <a:rPr lang="en-US" sz="1500" dirty="0">
                <a:solidFill>
                  <a:srgbClr val="F4EFEA"/>
                </a:solidFill>
                <a:latin typeface="Open Sans" pitchFamily="34" charset="0"/>
                <a:ea typeface="Open Sans" pitchFamily="34" charset="-122"/>
                <a:cs typeface="Open Sans" pitchFamily="34" charset="-120"/>
              </a:rPr>
              <a:t>Identical subproblems overlap repeatedly across recursive branches, making Fibonacci the canonical entry point for </a:t>
            </a:r>
            <a:pPr algn="l" indent="0" marL="0">
              <a:lnSpc>
                <a:spcPct val="121000"/>
              </a:lnSpc>
              <a:buNone/>
            </a:pPr>
            <a:r>
              <a:rPr lang="en-US" sz="1500" b="1" u="sng" dirty="0">
                <a:solidFill>
                  <a:srgbClr val="F4EFEA"/>
                </a:solidFill>
                <a:latin typeface="Open Sans Bold" pitchFamily="34" charset="0"/>
                <a:ea typeface="Open Sans Bold" pitchFamily="34" charset="-122"/>
                <a:cs typeface="Open Sans Bold" pitchFamily="34" charset="-120"/>
              </a:rPr>
              <a:t>dynamic programming</a:t>
            </a:r>
            <a:pPr algn="l" indent="0" marL="0">
              <a:lnSpc>
                <a:spcPct val="121000"/>
              </a:lnSpc>
              <a:buNone/>
            </a:pPr>
            <a:r>
              <a:rPr lang="en-US" sz="1500" dirty="0">
                <a:solidFill>
                  <a:srgbClr val="F4EFEA"/>
                </a:solidFill>
                <a:latin typeface="Open Sans" pitchFamily="34" charset="0"/>
                <a:ea typeface="Open Sans" pitchFamily="34" charset="-122"/>
                <a:cs typeface="Open Sans" pitchFamily="34" charset="-120"/>
              </a:rPr>
              <a:t>.</a:t>
            </a:r>
            <a:endParaRPr lang="en-US" sz="1500" dirty="0"/>
          </a:p>
        </p:txBody>
      </p:sp>
      <p:sp>
        <p:nvSpPr>
          <p:cNvPr id="21" name="Text 15"/>
          <p:cNvSpPr/>
          <p:nvPr/>
        </p:nvSpPr>
        <p:spPr>
          <a:xfrm>
            <a:off x="609585" y="6073815"/>
            <a:ext cx="11582110" cy="181570"/>
          </a:xfrm>
          <a:prstGeom prst="rect">
            <a:avLst/>
          </a:prstGeom>
          <a:noFill/>
          <a:ln/>
        </p:spPr>
        <p:txBody>
          <a:bodyPr wrap="none" lIns="0" tIns="0" rIns="0" bIns="0" rtlCol="0" anchor="t"/>
          <a:lstStyle/>
          <a:p>
            <a:pPr algn="l" indent="0" marL="0">
              <a:lnSpc>
                <a:spcPct val="108000"/>
              </a:lnSpc>
              <a:buNone/>
            </a:pPr>
            <a:r>
              <a:rPr lang="en-US" sz="1100" spc="132" kern="100" dirty="0">
                <a:solidFill>
                  <a:srgbClr val="BFD3CB"/>
                </a:solidFill>
                <a:latin typeface="Azeret Mono" pitchFamily="34" charset="0"/>
                <a:ea typeface="Azeret Mono" pitchFamily="34" charset="-122"/>
                <a:cs typeface="Azeret Mono" pitchFamily="34" charset="-120"/>
              </a:rPr>
              <a:t>DAA Lecture Notes · Optimal Substructure &amp; Overlapping Subproblems</a:t>
            </a:r>
            <a:endParaRPr lang="en-US" sz="1100" dirty="0"/>
          </a:p>
        </p:txBody>
      </p:sp>
      <p:sp>
        <p:nvSpPr>
          <p:cNvPr id="22" name="Shape 16"/>
          <p:cNvSpPr/>
          <p:nvPr/>
        </p:nvSpPr>
        <p:spPr>
          <a:xfrm>
            <a:off x="7858921" y="3231158"/>
            <a:ext cx="12700" cy="925116"/>
          </a:xfrm>
          <a:prstGeom prst="rect">
            <a:avLst/>
          </a:prstGeom>
          <a:solidFill>
            <a:srgbClr val="2F6B61"/>
          </a:solidFill>
          <a:ln/>
        </p:spPr>
      </p:sp>
      <p:sp>
        <p:nvSpPr>
          <p:cNvPr id="23" name="Shape 17"/>
          <p:cNvSpPr/>
          <p:nvPr/>
        </p:nvSpPr>
        <p:spPr>
          <a:xfrm>
            <a:off x="9603043" y="3231158"/>
            <a:ext cx="12700" cy="925116"/>
          </a:xfrm>
          <a:prstGeom prst="rect">
            <a:avLst/>
          </a:prstGeom>
          <a:solidFill>
            <a:srgbClr val="2F6B61"/>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09585" y="616585"/>
            <a:ext cx="11582110" cy="181570"/>
          </a:xfrm>
          <a:prstGeom prst="rect">
            <a:avLst/>
          </a:prstGeom>
          <a:noFill/>
          <a:ln/>
        </p:spPr>
        <p:txBody>
          <a:bodyPr wrap="none" lIns="0" tIns="0" rIns="0" bIns="0" rtlCol="0" anchor="t"/>
          <a:lstStyle/>
          <a:p>
            <a:pPr algn="l" indent="0" marL="0">
              <a:lnSpc>
                <a:spcPct val="108000"/>
              </a:lnSpc>
              <a:buNone/>
            </a:pPr>
            <a:r>
              <a:rPr lang="en-US" sz="1100" spc="132" kern="100" dirty="0">
                <a:solidFill>
                  <a:srgbClr val="BFD3CB"/>
                </a:solidFill>
                <a:latin typeface="Azeret Mono Medium" pitchFamily="34" charset="0"/>
                <a:ea typeface="Azeret Mono Medium" pitchFamily="34" charset="-122"/>
                <a:cs typeface="Azeret Mono Medium" pitchFamily="34" charset="-120"/>
              </a:rPr>
              <a:t>SUBPROBLEM EVALUATION</a:t>
            </a:r>
            <a:endParaRPr lang="en-US" sz="1100" dirty="0"/>
          </a:p>
        </p:txBody>
      </p:sp>
      <p:sp>
        <p:nvSpPr>
          <p:cNvPr id="3" name="Text 1"/>
          <p:cNvSpPr/>
          <p:nvPr/>
        </p:nvSpPr>
        <p:spPr>
          <a:xfrm>
            <a:off x="609585" y="900584"/>
            <a:ext cx="10972526" cy="713184"/>
          </a:xfrm>
          <a:prstGeom prst="rect">
            <a:avLst/>
          </a:prstGeom>
          <a:noFill/>
          <a:ln/>
        </p:spPr>
        <p:txBody>
          <a:bodyPr wrap="square" lIns="0" tIns="0" rIns="0" bIns="0" rtlCol="0" anchor="t">
            <a:normAutofit/>
          </a:bodyPr>
          <a:lstStyle/>
          <a:p>
            <a:pPr algn="l" indent="0" marL="0">
              <a:lnSpc>
                <a:spcPct val="90000"/>
              </a:lnSpc>
              <a:buNone/>
            </a:pPr>
            <a:r>
              <a:rPr lang="en-US" sz="2600" spc="-78" kern="100" dirty="0">
                <a:solidFill>
                  <a:srgbClr val="F4EFEA"/>
                </a:solidFill>
                <a:latin typeface="Krona One" pitchFamily="34" charset="0"/>
                <a:ea typeface="Krona One" pitchFamily="34" charset="-122"/>
                <a:cs typeface="Krona One" pitchFamily="34" charset="-120"/>
              </a:rPr>
              <a:t>Naive recursion recomputes; memoization remembers</a:t>
            </a:r>
            <a:endParaRPr lang="en-US" sz="2600" dirty="0"/>
          </a:p>
        </p:txBody>
      </p:sp>
      <p:sp>
        <p:nvSpPr>
          <p:cNvPr id="4" name="Shape 2"/>
          <p:cNvSpPr/>
          <p:nvPr/>
        </p:nvSpPr>
        <p:spPr>
          <a:xfrm>
            <a:off x="609585" y="1859954"/>
            <a:ext cx="3620798" cy="279301"/>
          </a:xfrm>
          <a:prstGeom prst="roundRect">
            <a:avLst>
              <a:gd name="adj" fmla="val 49999"/>
            </a:avLst>
          </a:prstGeom>
          <a:solidFill>
            <a:srgbClr val="F58E84"/>
          </a:solidFill>
          <a:ln/>
        </p:spPr>
      </p:sp>
      <p:sp>
        <p:nvSpPr>
          <p:cNvPr id="5" name="Shape 3"/>
          <p:cNvSpPr/>
          <p:nvPr/>
        </p:nvSpPr>
        <p:spPr>
          <a:xfrm>
            <a:off x="609585" y="2345730"/>
            <a:ext cx="5333867" cy="3527425"/>
          </a:xfrm>
          <a:prstGeom prst="rect">
            <a:avLst/>
          </a:prstGeom>
          <a:solidFill>
            <a:srgbClr val="004F46"/>
          </a:solidFill>
          <a:ln/>
        </p:spPr>
      </p:sp>
      <p:sp>
        <p:nvSpPr>
          <p:cNvPr id="6" name="Text 4"/>
          <p:cNvSpPr/>
          <p:nvPr/>
        </p:nvSpPr>
        <p:spPr>
          <a:xfrm>
            <a:off x="838179" y="2555915"/>
            <a:ext cx="5105272" cy="181570"/>
          </a:xfrm>
          <a:prstGeom prst="rect">
            <a:avLst/>
          </a:prstGeom>
          <a:noFill/>
          <a:ln/>
        </p:spPr>
        <p:txBody>
          <a:bodyPr wrap="none" lIns="0" tIns="0" rIns="0" bIns="0" rtlCol="0" anchor="t"/>
          <a:lstStyle/>
          <a:p>
            <a:pPr algn="l" indent="0" marL="0">
              <a:lnSpc>
                <a:spcPct val="108000"/>
              </a:lnSpc>
              <a:buNone/>
            </a:pPr>
            <a:r>
              <a:rPr lang="en-US" sz="1100" spc="132" kern="100" dirty="0">
                <a:solidFill>
                  <a:srgbClr val="FFFFFF"/>
                </a:solidFill>
                <a:latin typeface="Azeret Mono Medium" pitchFamily="34" charset="0"/>
                <a:ea typeface="Azeret Mono Medium" pitchFamily="34" charset="-122"/>
                <a:cs typeface="Azeret Mono Medium" pitchFamily="34" charset="-120"/>
              </a:rPr>
              <a:t>NAIVE TREE · F(5) RECOMPUTATION</a:t>
            </a:r>
            <a:endParaRPr lang="en-US" sz="1100" dirty="0"/>
          </a:p>
        </p:txBody>
      </p:sp>
      <p:pic>
        <p:nvPicPr>
          <p:cNvPr id="7" name="Image 0" descr="preencoded.png">    </p:cNvPr>
          <p:cNvPicPr>
            <a:picLocks noChangeAspect="1"/>
          </p:cNvPicPr>
          <p:nvPr/>
        </p:nvPicPr>
        <p:blipFill>
          <a:blip r:embed="rId1"/>
          <a:stretch>
            <a:fillRect/>
          </a:stretch>
        </p:blipFill>
        <p:spPr>
          <a:xfrm>
            <a:off x="838179" y="2857500"/>
            <a:ext cx="4876678" cy="1798042"/>
          </a:xfrm>
          <a:prstGeom prst="rect">
            <a:avLst/>
          </a:prstGeom>
        </p:spPr>
      </p:pic>
      <p:sp>
        <p:nvSpPr>
          <p:cNvPr id="8" name="Text 5"/>
          <p:cNvSpPr/>
          <p:nvPr/>
        </p:nvSpPr>
        <p:spPr>
          <a:xfrm>
            <a:off x="838179" y="4784923"/>
            <a:ext cx="4876678" cy="552450"/>
          </a:xfrm>
          <a:prstGeom prst="rect">
            <a:avLst/>
          </a:prstGeom>
          <a:noFill/>
          <a:ln/>
        </p:spPr>
        <p:txBody>
          <a:bodyPr wrap="square" lIns="0" tIns="0" rIns="0" bIns="0" rtlCol="0" anchor="t">
            <a:normAutofit/>
          </a:bodyPr>
          <a:lstStyle/>
          <a:p>
            <a:pPr algn="l" indent="0" marL="0">
              <a:lnSpc>
                <a:spcPct val="121000"/>
              </a:lnSpc>
              <a:buNone/>
            </a:pPr>
            <a:r>
              <a:rPr lang="en-US" sz="1450" i="1" dirty="0">
                <a:solidFill>
                  <a:srgbClr val="FFFFFF"/>
                </a:solidFill>
                <a:latin typeface="Open Sans" pitchFamily="34" charset="0"/>
                <a:ea typeface="Open Sans" pitchFamily="34" charset="-122"/>
                <a:cs typeface="Open Sans" pitchFamily="34" charset="-120"/>
              </a:rPr>
              <a:t>   </a:t>
            </a:r>
            <a:pPr algn="l" indent="0" marL="0">
              <a:lnSpc>
                <a:spcPct val="121000"/>
              </a:lnSpc>
              <a:buNone/>
            </a:pPr>
            <a:r>
              <a:rPr lang="en-US" sz="1500" dirty="0">
                <a:solidFill>
                  <a:srgbClr val="FFFFFF"/>
                </a:solidFill>
                <a:latin typeface="Open Sans" pitchFamily="34" charset="0"/>
                <a:ea typeface="Open Sans" pitchFamily="34" charset="-122"/>
                <a:cs typeface="Open Sans" pitchFamily="34" charset="-120"/>
              </a:rPr>
              <a:t> is evaluated 2 times; </a:t>
            </a:r>
            <a:pPr algn="l" indent="0" marL="0">
              <a:lnSpc>
                <a:spcPct val="121000"/>
              </a:lnSpc>
              <a:buNone/>
            </a:pPr>
            <a:r>
              <a:rPr lang="en-US" sz="1450" i="1" dirty="0">
                <a:solidFill>
                  <a:srgbClr val="FFFFFF"/>
                </a:solidFill>
                <a:latin typeface="Open Sans" pitchFamily="34" charset="0"/>
                <a:ea typeface="Open Sans" pitchFamily="34" charset="-122"/>
                <a:cs typeface="Open Sans" pitchFamily="34" charset="-120"/>
              </a:rPr>
              <a:t>   </a:t>
            </a:r>
            <a:pPr algn="l" indent="0" marL="0">
              <a:lnSpc>
                <a:spcPct val="121000"/>
              </a:lnSpc>
              <a:buNone/>
            </a:pPr>
            <a:r>
              <a:rPr lang="en-US" sz="1500" dirty="0">
                <a:solidFill>
                  <a:srgbClr val="FFFFFF"/>
                </a:solidFill>
                <a:latin typeface="Open Sans" pitchFamily="34" charset="0"/>
                <a:ea typeface="Open Sans" pitchFamily="34" charset="-122"/>
                <a:cs typeface="Open Sans" pitchFamily="34" charset="-120"/>
              </a:rPr>
              <a:t> is evaluated 3 times. Total invocations grow exponentially as </a:t>
            </a:r>
            <a:pPr algn="l" indent="0" marL="0">
              <a:lnSpc>
                <a:spcPct val="121000"/>
              </a:lnSpc>
              <a:buNone/>
            </a:pPr>
            <a:r>
              <a:rPr lang="en-US" sz="1450" i="1" dirty="0">
                <a:solidFill>
                  <a:srgbClr val="FFFFFF"/>
                </a:solidFill>
                <a:latin typeface="Open Sans" pitchFamily="34" charset="0"/>
                <a:ea typeface="Open Sans" pitchFamily="34" charset="-122"/>
                <a:cs typeface="Open Sans" pitchFamily="34" charset="-120"/>
              </a:rPr>
              <a:t>   </a:t>
            </a:r>
            <a:pPr algn="l" indent="0" marL="0">
              <a:lnSpc>
                <a:spcPct val="121000"/>
              </a:lnSpc>
              <a:buNone/>
            </a:pPr>
            <a:r>
              <a:rPr lang="en-US" sz="1500" dirty="0">
                <a:solidFill>
                  <a:srgbClr val="FFFFFF"/>
                </a:solidFill>
                <a:latin typeface="Open Sans" pitchFamily="34" charset="0"/>
                <a:ea typeface="Open Sans" pitchFamily="34" charset="-122"/>
                <a:cs typeface="Open Sans" pitchFamily="34" charset="-120"/>
              </a:rPr>
              <a:t>.</a:t>
            </a:r>
            <a:endParaRPr lang="en-US" sz="1500" dirty="0"/>
          </a:p>
        </p:txBody>
      </p:sp>
      <p:pic>
        <p:nvPicPr>
          <p:cNvPr id="9" name="Image 1" descr="preencoded.png">    </p:cNvPr>
          <p:cNvPicPr>
            <a:picLocks noChangeAspect="1"/>
          </p:cNvPicPr>
          <p:nvPr/>
        </p:nvPicPr>
        <p:blipFill>
          <a:blip r:embed="rId2"/>
          <a:stretch>
            <a:fillRect/>
          </a:stretch>
        </p:blipFill>
        <p:spPr>
          <a:xfrm>
            <a:off x="838179" y="4820642"/>
            <a:ext cx="406390" cy="236041"/>
          </a:xfrm>
          <a:prstGeom prst="rect">
            <a:avLst/>
          </a:prstGeom>
        </p:spPr>
      </p:pic>
      <p:pic>
        <p:nvPicPr>
          <p:cNvPr id="10" name="Image 2" descr="preencoded.png">    </p:cNvPr>
          <p:cNvPicPr>
            <a:picLocks noChangeAspect="1"/>
          </p:cNvPicPr>
          <p:nvPr/>
        </p:nvPicPr>
        <p:blipFill>
          <a:blip r:embed="rId3"/>
          <a:stretch>
            <a:fillRect/>
          </a:stretch>
        </p:blipFill>
        <p:spPr>
          <a:xfrm>
            <a:off x="3150117" y="4820642"/>
            <a:ext cx="406390" cy="236041"/>
          </a:xfrm>
          <a:prstGeom prst="rect">
            <a:avLst/>
          </a:prstGeom>
        </p:spPr>
      </p:pic>
      <p:pic>
        <p:nvPicPr>
          <p:cNvPr id="11" name="Image 3" descr="preencoded.png">    </p:cNvPr>
          <p:cNvPicPr>
            <a:picLocks noChangeAspect="1"/>
          </p:cNvPicPr>
          <p:nvPr/>
        </p:nvPicPr>
        <p:blipFill>
          <a:blip r:embed="rId4"/>
          <a:stretch>
            <a:fillRect/>
          </a:stretch>
        </p:blipFill>
        <p:spPr>
          <a:xfrm>
            <a:off x="4368988" y="5096867"/>
            <a:ext cx="495486" cy="236041"/>
          </a:xfrm>
          <a:prstGeom prst="rect">
            <a:avLst/>
          </a:prstGeom>
        </p:spPr>
      </p:pic>
      <p:sp>
        <p:nvSpPr>
          <p:cNvPr id="12" name="Shape 6"/>
          <p:cNvSpPr/>
          <p:nvPr/>
        </p:nvSpPr>
        <p:spPr>
          <a:xfrm>
            <a:off x="6248244" y="2345730"/>
            <a:ext cx="5333867" cy="3527425"/>
          </a:xfrm>
          <a:prstGeom prst="rect">
            <a:avLst/>
          </a:prstGeom>
          <a:solidFill>
            <a:srgbClr val="004F46"/>
          </a:solidFill>
          <a:ln/>
        </p:spPr>
      </p:sp>
      <p:sp>
        <p:nvSpPr>
          <p:cNvPr id="13" name="Text 7"/>
          <p:cNvSpPr/>
          <p:nvPr/>
        </p:nvSpPr>
        <p:spPr>
          <a:xfrm>
            <a:off x="6476838" y="2555915"/>
            <a:ext cx="5105272" cy="181570"/>
          </a:xfrm>
          <a:prstGeom prst="rect">
            <a:avLst/>
          </a:prstGeom>
          <a:noFill/>
          <a:ln/>
        </p:spPr>
        <p:txBody>
          <a:bodyPr wrap="none" lIns="0" tIns="0" rIns="0" bIns="0" rtlCol="0" anchor="t"/>
          <a:lstStyle/>
          <a:p>
            <a:pPr algn="l" indent="0" marL="0">
              <a:lnSpc>
                <a:spcPct val="108000"/>
              </a:lnSpc>
              <a:buNone/>
            </a:pPr>
            <a:r>
              <a:rPr lang="en-US" sz="1100" spc="132" kern="100" dirty="0">
                <a:solidFill>
                  <a:srgbClr val="FFFFFF"/>
                </a:solidFill>
                <a:latin typeface="Azeret Mono Medium" pitchFamily="34" charset="0"/>
                <a:ea typeface="Azeret Mono Medium" pitchFamily="34" charset="-122"/>
                <a:cs typeface="Azeret Mono Medium" pitchFamily="34" charset="-120"/>
              </a:rPr>
              <a:t>MEMOIZED TREE · PRUNED LOOKUPS</a:t>
            </a:r>
            <a:endParaRPr lang="en-US" sz="1100" dirty="0"/>
          </a:p>
        </p:txBody>
      </p:sp>
      <p:pic>
        <p:nvPicPr>
          <p:cNvPr id="14" name="Image 4" descr="preencoded.png">    </p:cNvPr>
          <p:cNvPicPr>
            <a:picLocks noChangeAspect="1"/>
          </p:cNvPicPr>
          <p:nvPr/>
        </p:nvPicPr>
        <p:blipFill>
          <a:blip r:embed="rId5"/>
          <a:stretch>
            <a:fillRect/>
          </a:stretch>
        </p:blipFill>
        <p:spPr>
          <a:xfrm>
            <a:off x="6476838" y="2857500"/>
            <a:ext cx="4876678" cy="1592560"/>
          </a:xfrm>
          <a:prstGeom prst="rect">
            <a:avLst/>
          </a:prstGeom>
        </p:spPr>
      </p:pic>
      <p:sp>
        <p:nvSpPr>
          <p:cNvPr id="15" name="Text 8"/>
          <p:cNvSpPr/>
          <p:nvPr/>
        </p:nvSpPr>
        <p:spPr>
          <a:xfrm>
            <a:off x="6476838" y="4579441"/>
            <a:ext cx="4876678" cy="828675"/>
          </a:xfrm>
          <a:prstGeom prst="rect">
            <a:avLst/>
          </a:prstGeom>
          <a:noFill/>
          <a:ln/>
        </p:spPr>
        <p:txBody>
          <a:bodyPr wrap="square" lIns="0" tIns="0" rIns="0" bIns="0" rtlCol="0" anchor="t">
            <a:normAutofit/>
          </a:bodyPr>
          <a:lstStyle/>
          <a:p>
            <a:pPr algn="l" indent="0" marL="0">
              <a:lnSpc>
                <a:spcPct val="121000"/>
              </a:lnSpc>
              <a:buNone/>
            </a:pPr>
            <a:r>
              <a:rPr lang="en-US" sz="1500" dirty="0">
                <a:solidFill>
                  <a:srgbClr val="FFFFFF"/>
                </a:solidFill>
                <a:latin typeface="Open Sans" pitchFamily="34" charset="0"/>
                <a:ea typeface="Open Sans" pitchFamily="34" charset="-122"/>
                <a:cs typeface="Open Sans" pitchFamily="34" charset="-120"/>
              </a:rPr>
              <a:t>Compute each state </a:t>
            </a:r>
            <a:pPr algn="l" indent="0" marL="0">
              <a:lnSpc>
                <a:spcPct val="121000"/>
              </a:lnSpc>
              <a:buNone/>
            </a:pPr>
            <a:r>
              <a:rPr lang="en-US" sz="1450" i="1" dirty="0">
                <a:solidFill>
                  <a:srgbClr val="FFFFFF"/>
                </a:solidFill>
                <a:latin typeface="Open Sans" pitchFamily="34" charset="0"/>
                <a:ea typeface="Open Sans" pitchFamily="34" charset="-122"/>
                <a:cs typeface="Open Sans" pitchFamily="34" charset="-120"/>
              </a:rPr>
              <a:t>   </a:t>
            </a:r>
            <a:pPr algn="l" indent="0" marL="0">
              <a:lnSpc>
                <a:spcPct val="121000"/>
              </a:lnSpc>
              <a:buNone/>
            </a:pPr>
            <a:r>
              <a:rPr lang="en-US" sz="1500" dirty="0">
                <a:solidFill>
                  <a:srgbClr val="FFFFFF"/>
                </a:solidFill>
                <a:latin typeface="Open Sans" pitchFamily="34" charset="0"/>
                <a:ea typeface="Open Sans" pitchFamily="34" charset="-122"/>
                <a:cs typeface="Open Sans" pitchFamily="34" charset="-120"/>
              </a:rPr>
              <a:t> exactly once and persist it in a table. Subsequent calls bypass recursion via an </a:t>
            </a:r>
            <a:pPr algn="l" indent="0" marL="0">
              <a:lnSpc>
                <a:spcPct val="121000"/>
              </a:lnSpc>
              <a:buNone/>
            </a:pPr>
            <a:r>
              <a:rPr lang="en-US" sz="1450" i="1" dirty="0">
                <a:solidFill>
                  <a:srgbClr val="FFFFFF"/>
                </a:solidFill>
                <a:latin typeface="Open Sans" pitchFamily="34" charset="0"/>
                <a:ea typeface="Open Sans" pitchFamily="34" charset="-122"/>
                <a:cs typeface="Open Sans" pitchFamily="34" charset="-120"/>
              </a:rPr>
              <a:t>   </a:t>
            </a:r>
            <a:pPr algn="l" indent="0" marL="0">
              <a:lnSpc>
                <a:spcPct val="121000"/>
              </a:lnSpc>
              <a:buNone/>
            </a:pPr>
            <a:r>
              <a:rPr lang="en-US" sz="1500" dirty="0">
                <a:solidFill>
                  <a:srgbClr val="FFFFFF"/>
                </a:solidFill>
                <a:latin typeface="Open Sans" pitchFamily="34" charset="0"/>
                <a:ea typeface="Open Sans" pitchFamily="34" charset="-122"/>
                <a:cs typeface="Open Sans" pitchFamily="34" charset="-120"/>
              </a:rPr>
              <a:t> memory lookup.</a:t>
            </a:r>
            <a:endParaRPr lang="en-US" sz="1500" dirty="0"/>
          </a:p>
        </p:txBody>
      </p:sp>
      <p:pic>
        <p:nvPicPr>
          <p:cNvPr id="16" name="Image 5" descr="preencoded.png">    </p:cNvPr>
          <p:cNvPicPr>
            <a:picLocks noChangeAspect="1"/>
          </p:cNvPicPr>
          <p:nvPr/>
        </p:nvPicPr>
        <p:blipFill>
          <a:blip r:embed="rId6"/>
          <a:stretch>
            <a:fillRect/>
          </a:stretch>
        </p:blipFill>
        <p:spPr>
          <a:xfrm>
            <a:off x="8304798" y="4615160"/>
            <a:ext cx="416113" cy="236041"/>
          </a:xfrm>
          <a:prstGeom prst="rect">
            <a:avLst/>
          </a:prstGeom>
        </p:spPr>
      </p:pic>
      <p:pic>
        <p:nvPicPr>
          <p:cNvPr id="17" name="Image 6" descr="preencoded.png">    </p:cNvPr>
          <p:cNvPicPr>
            <a:picLocks noChangeAspect="1"/>
          </p:cNvPicPr>
          <p:nvPr/>
        </p:nvPicPr>
        <p:blipFill>
          <a:blip r:embed="rId7"/>
          <a:stretch>
            <a:fillRect/>
          </a:stretch>
        </p:blipFill>
        <p:spPr>
          <a:xfrm>
            <a:off x="10847513" y="4891385"/>
            <a:ext cx="408077" cy="236041"/>
          </a:xfrm>
          <a:prstGeom prst="rect">
            <a:avLst/>
          </a:prstGeom>
        </p:spPr>
      </p:pic>
      <p:sp>
        <p:nvSpPr>
          <p:cNvPr id="18" name="Text 9"/>
          <p:cNvSpPr/>
          <p:nvPr/>
        </p:nvSpPr>
        <p:spPr>
          <a:xfrm>
            <a:off x="609585" y="6073815"/>
            <a:ext cx="11582110" cy="181570"/>
          </a:xfrm>
          <a:prstGeom prst="rect">
            <a:avLst/>
          </a:prstGeom>
          <a:noFill/>
          <a:ln/>
        </p:spPr>
        <p:txBody>
          <a:bodyPr wrap="none" lIns="0" tIns="0" rIns="0" bIns="0" rtlCol="0" anchor="t"/>
          <a:lstStyle/>
          <a:p>
            <a:pPr algn="l" indent="0" marL="0">
              <a:lnSpc>
                <a:spcPct val="108000"/>
              </a:lnSpc>
              <a:buNone/>
            </a:pPr>
            <a:r>
              <a:rPr lang="en-US" sz="1100" spc="22" kern="100" dirty="0">
                <a:solidFill>
                  <a:srgbClr val="BFD3CB"/>
                </a:solidFill>
                <a:latin typeface="Azeret Mono" pitchFamily="34" charset="0"/>
                <a:ea typeface="Azeret Mono" pitchFamily="34" charset="-122"/>
                <a:cs typeface="Azeret Mono" pitchFamily="34" charset="-120"/>
              </a:rPr>
              <a:t>Comparison: red nodes denote repeated recomputations; dashed border denotes instant table returns.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09585" y="616585"/>
            <a:ext cx="11582110" cy="181570"/>
          </a:xfrm>
          <a:prstGeom prst="rect">
            <a:avLst/>
          </a:prstGeom>
          <a:noFill/>
          <a:ln/>
        </p:spPr>
        <p:txBody>
          <a:bodyPr wrap="none" lIns="0" tIns="0" rIns="0" bIns="0" rtlCol="0" anchor="t"/>
          <a:lstStyle/>
          <a:p>
            <a:pPr algn="l" indent="0" marL="0">
              <a:lnSpc>
                <a:spcPct val="108000"/>
              </a:lnSpc>
              <a:buNone/>
            </a:pPr>
            <a:r>
              <a:rPr lang="en-US" sz="1100" spc="132" kern="100" dirty="0">
                <a:solidFill>
                  <a:srgbClr val="BFD3CB"/>
                </a:solidFill>
                <a:latin typeface="Azeret Mono Medium" pitchFamily="34" charset="0"/>
                <a:ea typeface="Azeret Mono Medium" pitchFamily="34" charset="-122"/>
                <a:cs typeface="Azeret Mono Medium" pitchFamily="34" charset="-120"/>
              </a:rPr>
              <a:t>ALGORITHM SPECIFICATION</a:t>
            </a:r>
            <a:endParaRPr lang="en-US" sz="1100" dirty="0"/>
          </a:p>
        </p:txBody>
      </p:sp>
      <p:sp>
        <p:nvSpPr>
          <p:cNvPr id="3" name="Text 1"/>
          <p:cNvSpPr/>
          <p:nvPr/>
        </p:nvSpPr>
        <p:spPr>
          <a:xfrm>
            <a:off x="609585" y="900584"/>
            <a:ext cx="10972526" cy="356592"/>
          </a:xfrm>
          <a:prstGeom prst="rect">
            <a:avLst/>
          </a:prstGeom>
          <a:noFill/>
          <a:ln/>
        </p:spPr>
        <p:txBody>
          <a:bodyPr wrap="none" lIns="0" tIns="0" rIns="0" bIns="0" rtlCol="0" anchor="t"/>
          <a:lstStyle/>
          <a:p>
            <a:pPr algn="l" indent="0" marL="0">
              <a:lnSpc>
                <a:spcPct val="90000"/>
              </a:lnSpc>
              <a:buNone/>
            </a:pPr>
            <a:r>
              <a:rPr lang="en-US" sz="2600" spc="-78" kern="100" dirty="0">
                <a:solidFill>
                  <a:srgbClr val="F4EFEA"/>
                </a:solidFill>
                <a:latin typeface="Krona One" pitchFamily="34" charset="0"/>
                <a:ea typeface="Krona One" pitchFamily="34" charset="-122"/>
                <a:cs typeface="Krona One" pitchFamily="34" charset="-120"/>
              </a:rPr>
              <a:t>Pseudocode: Top-down memoized Fibonacci</a:t>
            </a:r>
            <a:endParaRPr lang="en-US" sz="2600" dirty="0"/>
          </a:p>
        </p:txBody>
      </p:sp>
      <p:sp>
        <p:nvSpPr>
          <p:cNvPr id="4" name="Shape 2"/>
          <p:cNvSpPr/>
          <p:nvPr/>
        </p:nvSpPr>
        <p:spPr>
          <a:xfrm>
            <a:off x="609585" y="1920875"/>
            <a:ext cx="5333867" cy="2849463"/>
          </a:xfrm>
          <a:prstGeom prst="roundRect">
            <a:avLst>
              <a:gd name="adj" fmla="val 3182"/>
            </a:avLst>
          </a:prstGeom>
          <a:solidFill>
            <a:srgbClr val="0A1311"/>
          </a:solidFill>
          <a:ln/>
        </p:spPr>
      </p:sp>
      <p:sp>
        <p:nvSpPr>
          <p:cNvPr id="5" name="Text 3"/>
          <p:cNvSpPr/>
          <p:nvPr/>
        </p:nvSpPr>
        <p:spPr>
          <a:xfrm>
            <a:off x="868638" y="2136775"/>
            <a:ext cx="4815759" cy="2417663"/>
          </a:xfrm>
          <a:prstGeom prst="rect">
            <a:avLst/>
          </a:prstGeom>
          <a:noFill/>
          <a:ln/>
        </p:spPr>
        <p:txBody>
          <a:bodyPr wrap="square" lIns="0" tIns="0" rIns="0" bIns="0" rtlCol="0" anchor="t">
            <a:normAutofit/>
          </a:bodyPr>
          <a:lstStyle/>
          <a:p>
            <a:pPr algn="l" indent="0" marL="0">
              <a:lnSpc>
                <a:spcPct val="133000"/>
              </a:lnSpc>
              <a:buNone/>
            </a:pPr>
            <a:r>
              <a:rPr lang="en-US" sz="1700" dirty="0">
                <a:solidFill>
                  <a:srgbClr val="E6EDF3"/>
                </a:solidFill>
                <a:latin typeface="Consolas" pitchFamily="34" charset="0"/>
                <a:ea typeface="Consolas" pitchFamily="34" charset="-122"/>
                <a:cs typeface="Consolas" pitchFamily="34" charset="-120"/>
              </a:rPr>
              <a:t>01 memo=[-1]*(n+1)</a:t>
            </a:r>
            <a:endParaRPr lang="en-US" sz="1700" dirty="0"/>
          </a:p>
          <a:p>
            <a:pPr algn="l" indent="0" marL="0">
              <a:lnSpc>
                <a:spcPct val="133000"/>
              </a:lnSpc>
              <a:buNone/>
            </a:pPr>
            <a:r>
              <a:rPr lang="en-US" sz="1700" dirty="0">
                <a:solidFill>
                  <a:srgbClr val="E6EDF3"/>
                </a:solidFill>
                <a:latin typeface="Consolas" pitchFamily="34" charset="0"/>
                <a:ea typeface="Consolas" pitchFamily="34" charset="-122"/>
                <a:cs typeface="Consolas" pitchFamily="34" charset="-120"/>
              </a:rPr>
              <a:t>02 FIB(n)</a:t>
            </a:r>
            <a:endParaRPr lang="en-US" sz="1700" dirty="0"/>
          </a:p>
          <a:p>
            <a:pPr algn="l" indent="0" marL="0">
              <a:lnSpc>
                <a:spcPct val="133000"/>
              </a:lnSpc>
              <a:buNone/>
            </a:pPr>
            <a:r>
              <a:rPr lang="en-US" sz="1700" dirty="0">
                <a:solidFill>
                  <a:srgbClr val="E6EDF3"/>
                </a:solidFill>
                <a:latin typeface="Consolas" pitchFamily="34" charset="0"/>
                <a:ea typeface="Consolas" pitchFamily="34" charset="-122"/>
                <a:cs typeface="Consolas" pitchFamily="34" charset="-120"/>
              </a:rPr>
              <a:t>03 def FIB(n):</a:t>
            </a:r>
            <a:endParaRPr lang="en-US" sz="1700" dirty="0"/>
          </a:p>
          <a:p>
            <a:pPr algn="l" indent="0" marL="0">
              <a:lnSpc>
                <a:spcPct val="133000"/>
              </a:lnSpc>
              <a:buNone/>
            </a:pPr>
            <a:r>
              <a:rPr lang="en-US" sz="1700" dirty="0">
                <a:solidFill>
                  <a:srgbClr val="E6EDF3"/>
                </a:solidFill>
                <a:latin typeface="Consolas" pitchFamily="34" charset="0"/>
                <a:ea typeface="Consolas" pitchFamily="34" charset="-122"/>
                <a:cs typeface="Consolas" pitchFamily="34" charset="-120"/>
              </a:rPr>
              <a:t>04   if n&lt;=1: return n</a:t>
            </a:r>
            <a:endParaRPr lang="en-US" sz="1700" dirty="0"/>
          </a:p>
          <a:p>
            <a:pPr algn="l" indent="0" marL="0">
              <a:lnSpc>
                <a:spcPct val="133000"/>
              </a:lnSpc>
              <a:buNone/>
            </a:pPr>
            <a:r>
              <a:rPr lang="en-US" sz="1700" dirty="0">
                <a:solidFill>
                  <a:srgbClr val="E6EDF3"/>
                </a:solidFill>
                <a:latin typeface="Consolas" pitchFamily="34" charset="0"/>
                <a:ea typeface="Consolas" pitchFamily="34" charset="-122"/>
                <a:cs typeface="Consolas" pitchFamily="34" charset="-120"/>
              </a:rPr>
              <a:t>05   if memo[n]!=-1: return memo[n]</a:t>
            </a:r>
            <a:endParaRPr lang="en-US" sz="1700" dirty="0"/>
          </a:p>
          <a:p>
            <a:pPr algn="l" indent="0" marL="0">
              <a:lnSpc>
                <a:spcPct val="133000"/>
              </a:lnSpc>
              <a:buNone/>
            </a:pPr>
            <a:r>
              <a:rPr lang="en-US" sz="1700" dirty="0">
                <a:solidFill>
                  <a:srgbClr val="E6EDF3"/>
                </a:solidFill>
                <a:latin typeface="Consolas" pitchFamily="34" charset="0"/>
                <a:ea typeface="Consolas" pitchFamily="34" charset="-122"/>
                <a:cs typeface="Consolas" pitchFamily="34" charset="-120"/>
              </a:rPr>
              <a:t>06   memo[n]=FIB(n-1)+FIB(n-2)</a:t>
            </a:r>
            <a:endParaRPr lang="en-US" sz="1700" dirty="0"/>
          </a:p>
          <a:p>
            <a:pPr algn="l" indent="0" marL="0">
              <a:lnSpc>
                <a:spcPct val="133000"/>
              </a:lnSpc>
              <a:buNone/>
            </a:pPr>
            <a:r>
              <a:rPr lang="en-US" sz="1700" dirty="0">
                <a:solidFill>
                  <a:srgbClr val="E6EDF3"/>
                </a:solidFill>
                <a:latin typeface="Consolas" pitchFamily="34" charset="0"/>
                <a:ea typeface="Consolas" pitchFamily="34" charset="-122"/>
                <a:cs typeface="Consolas" pitchFamily="34" charset="-120"/>
              </a:rPr>
              <a:t>07   return memo[n]</a:t>
            </a:r>
            <a:endParaRPr lang="en-US" sz="1700" dirty="0"/>
          </a:p>
        </p:txBody>
      </p:sp>
      <p:sp>
        <p:nvSpPr>
          <p:cNvPr id="6" name="Shape 4"/>
          <p:cNvSpPr/>
          <p:nvPr/>
        </p:nvSpPr>
        <p:spPr>
          <a:xfrm>
            <a:off x="6248244" y="1449388"/>
            <a:ext cx="5333867" cy="3792438"/>
          </a:xfrm>
          <a:prstGeom prst="rect">
            <a:avLst/>
          </a:prstGeom>
          <a:solidFill>
            <a:srgbClr val="253122"/>
          </a:solidFill>
          <a:ln/>
        </p:spPr>
      </p:sp>
      <p:sp>
        <p:nvSpPr>
          <p:cNvPr id="7" name="Text 5"/>
          <p:cNvSpPr/>
          <p:nvPr/>
        </p:nvSpPr>
        <p:spPr>
          <a:xfrm>
            <a:off x="6400640" y="1601788"/>
            <a:ext cx="5029074" cy="2572246"/>
          </a:xfrm>
          <a:prstGeom prst="rect">
            <a:avLst/>
          </a:prstGeom>
          <a:noFill/>
          <a:ln/>
        </p:spPr>
        <p:txBody>
          <a:bodyPr wrap="square" lIns="0" tIns="0" rIns="0" bIns="0" rtlCol="0" anchor="t">
            <a:normAutofit/>
          </a:bodyPr>
          <a:lstStyle/>
          <a:p>
            <a:pPr algn="l" indent="0" marL="0">
              <a:lnSpc>
                <a:spcPct val="121000"/>
              </a:lnSpc>
              <a:spcAft>
                <a:spcPts val="950"/>
              </a:spcAft>
              <a:buNone/>
            </a:pPr>
            <a:r>
              <a:rPr lang="en-US" sz="1700" b="1" dirty="0">
                <a:solidFill>
                  <a:srgbClr val="F4EFEA"/>
                </a:solidFill>
                <a:latin typeface="Open Sans Bold" pitchFamily="34" charset="0"/>
                <a:ea typeface="Open Sans Bold" pitchFamily="34" charset="-122"/>
                <a:cs typeface="Open Sans Bold" pitchFamily="34" charset="-120"/>
              </a:rPr>
              <a:t>Table initialization:</a:t>
            </a:r>
            <a:pPr algn="l" indent="0" marL="0">
              <a:lnSpc>
                <a:spcPct val="121000"/>
              </a:lnSpc>
              <a:spcAft>
                <a:spcPts val="950"/>
              </a:spcAft>
              <a:buNone/>
            </a:pPr>
            <a:r>
              <a:rPr lang="en-US" sz="1700" dirty="0">
                <a:solidFill>
                  <a:srgbClr val="F4EFEA"/>
                </a:solidFill>
                <a:latin typeface="Open Sans" pitchFamily="34" charset="0"/>
                <a:ea typeface="Open Sans" pitchFamily="34" charset="-122"/>
                <a:cs typeface="Open Sans" pitchFamily="34" charset="-120"/>
              </a:rPr>
              <a:t> memo[0..n] = -1; -1 marks unvisited states.</a:t>
            </a:r>
            <a:endParaRPr lang="en-US" sz="1700" dirty="0"/>
          </a:p>
          <a:p>
            <a:pPr algn="l" indent="0" marL="0">
              <a:lnSpc>
                <a:spcPct val="121000"/>
              </a:lnSpc>
              <a:spcAft>
                <a:spcPts val="950"/>
              </a:spcAft>
              <a:buNone/>
            </a:pPr>
            <a:r>
              <a:rPr lang="en-US" sz="1700" b="1" dirty="0">
                <a:solidFill>
                  <a:srgbClr val="F4EFEA"/>
                </a:solidFill>
                <a:latin typeface="Open Sans Bold" pitchFamily="34" charset="0"/>
                <a:ea typeface="Open Sans Bold" pitchFamily="34" charset="-122"/>
                <a:cs typeface="Open Sans Bold" pitchFamily="34" charset="-120"/>
              </a:rPr>
              <a:t>Base case:</a:t>
            </a:r>
            <a:pPr algn="l" indent="0" marL="0">
              <a:lnSpc>
                <a:spcPct val="121000"/>
              </a:lnSpc>
              <a:spcAft>
                <a:spcPts val="950"/>
              </a:spcAft>
              <a:buNone/>
            </a:pPr>
            <a:r>
              <a:rPr lang="en-US" sz="1700" dirty="0">
                <a:solidFill>
                  <a:srgbClr val="F4EFEA"/>
                </a:solidFill>
                <a:latin typeface="Open Sans" pitchFamily="34" charset="0"/>
                <a:ea typeface="Open Sans" pitchFamily="34" charset="-122"/>
                <a:cs typeface="Open Sans" pitchFamily="34" charset="-120"/>
              </a:rPr>
              <a:t> For n ≤ 1, return n.</a:t>
            </a:r>
            <a:endParaRPr lang="en-US" sz="1700" dirty="0"/>
          </a:p>
          <a:p>
            <a:pPr algn="l" indent="0" marL="0">
              <a:lnSpc>
                <a:spcPct val="121000"/>
              </a:lnSpc>
              <a:spcAft>
                <a:spcPts val="950"/>
              </a:spcAft>
              <a:buNone/>
            </a:pPr>
            <a:r>
              <a:rPr lang="en-US" sz="1700" b="1" dirty="0">
                <a:solidFill>
                  <a:srgbClr val="F4EFEA"/>
                </a:solidFill>
                <a:latin typeface="Open Sans Bold" pitchFamily="34" charset="0"/>
                <a:ea typeface="Open Sans Bold" pitchFamily="34" charset="-122"/>
                <a:cs typeface="Open Sans Bold" pitchFamily="34" charset="-120"/>
              </a:rPr>
              <a:t>Cache hit:</a:t>
            </a:r>
            <a:pPr algn="l" indent="0" marL="0">
              <a:lnSpc>
                <a:spcPct val="121000"/>
              </a:lnSpc>
              <a:spcAft>
                <a:spcPts val="950"/>
              </a:spcAft>
              <a:buNone/>
            </a:pPr>
            <a:r>
              <a:rPr lang="en-US" sz="1700" dirty="0">
                <a:solidFill>
                  <a:srgbClr val="F4EFEA"/>
                </a:solidFill>
                <a:latin typeface="Open Sans" pitchFamily="34" charset="0"/>
                <a:ea typeface="Open Sans" pitchFamily="34" charset="-122"/>
                <a:cs typeface="Open Sans" pitchFamily="34" charset="-120"/>
              </a:rPr>
              <a:t> If memo[n] ≠ -1, return the cached scalar in O(1) time.</a:t>
            </a:r>
            <a:endParaRPr lang="en-US" sz="1700" dirty="0"/>
          </a:p>
          <a:p>
            <a:pPr algn="l" indent="0" marL="0">
              <a:lnSpc>
                <a:spcPct val="121000"/>
              </a:lnSpc>
              <a:buNone/>
            </a:pPr>
            <a:r>
              <a:rPr lang="en-US" sz="1700" b="1" dirty="0">
                <a:solidFill>
                  <a:srgbClr val="F4EFEA"/>
                </a:solidFill>
                <a:latin typeface="Open Sans Bold" pitchFamily="34" charset="0"/>
                <a:ea typeface="Open Sans Bold" pitchFamily="34" charset="-122"/>
                <a:cs typeface="Open Sans Bold" pitchFamily="34" charset="-120"/>
              </a:rPr>
              <a:t>Compute and cache:</a:t>
            </a:r>
            <a:pPr algn="l" indent="0" marL="0">
              <a:lnSpc>
                <a:spcPct val="121000"/>
              </a:lnSpc>
              <a:buNone/>
            </a:pPr>
            <a:r>
              <a:rPr lang="en-US" sz="1700" dirty="0">
                <a:solidFill>
                  <a:srgbClr val="F4EFEA"/>
                </a:solidFill>
                <a:latin typeface="Open Sans" pitchFamily="34" charset="0"/>
                <a:ea typeface="Open Sans" pitchFamily="34" charset="-122"/>
                <a:cs typeface="Open Sans" pitchFamily="34" charset="-120"/>
              </a:rPr>
              <a:t> Evaluate the recursive sum once; store in memo[n], then return.</a:t>
            </a:r>
            <a:endParaRPr lang="en-US" sz="1700" dirty="0"/>
          </a:p>
        </p:txBody>
      </p:sp>
      <p:sp>
        <p:nvSpPr>
          <p:cNvPr id="8" name="Text 6"/>
          <p:cNvSpPr/>
          <p:nvPr/>
        </p:nvSpPr>
        <p:spPr>
          <a:xfrm>
            <a:off x="609585" y="6073815"/>
            <a:ext cx="11582110" cy="181570"/>
          </a:xfrm>
          <a:prstGeom prst="rect">
            <a:avLst/>
          </a:prstGeom>
          <a:noFill/>
          <a:ln/>
        </p:spPr>
        <p:txBody>
          <a:bodyPr wrap="none" lIns="0" tIns="0" rIns="0" bIns="0" rtlCol="0" anchor="t"/>
          <a:lstStyle/>
          <a:p>
            <a:pPr algn="l" indent="0" marL="0">
              <a:lnSpc>
                <a:spcPct val="108000"/>
              </a:lnSpc>
              <a:buNone/>
            </a:pPr>
            <a:r>
              <a:rPr lang="en-US" sz="1100" spc="132" kern="100" dirty="0">
                <a:solidFill>
                  <a:srgbClr val="BFD3CB"/>
                </a:solidFill>
                <a:latin typeface="Azeret Mono" pitchFamily="34" charset="0"/>
                <a:ea typeface="Azeret Mono" pitchFamily="34" charset="-122"/>
                <a:cs typeface="Azeret Mono" pitchFamily="34" charset="-120"/>
              </a:rPr>
              <a:t>Top-down memoization maintains standard recursive structure while avoiding redundant calls.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09585" y="616585"/>
            <a:ext cx="11582110" cy="181570"/>
          </a:xfrm>
          <a:prstGeom prst="rect">
            <a:avLst/>
          </a:prstGeom>
          <a:noFill/>
          <a:ln/>
        </p:spPr>
        <p:txBody>
          <a:bodyPr wrap="none" lIns="0" tIns="0" rIns="0" bIns="0" rtlCol="0" anchor="t"/>
          <a:lstStyle/>
          <a:p>
            <a:pPr algn="l" indent="0" marL="0">
              <a:lnSpc>
                <a:spcPct val="108000"/>
              </a:lnSpc>
              <a:buNone/>
            </a:pPr>
            <a:r>
              <a:rPr lang="en-US" sz="1100" spc="132" kern="100" dirty="0">
                <a:solidFill>
                  <a:srgbClr val="BFD3CB"/>
                </a:solidFill>
                <a:latin typeface="Azeret Mono Medium" pitchFamily="34" charset="0"/>
                <a:ea typeface="Azeret Mono Medium" pitchFamily="34" charset="-122"/>
                <a:cs typeface="Azeret Mono Medium" pitchFamily="34" charset="-120"/>
              </a:rPr>
              <a:t>ASYMPTOTIC ANALYSIS</a:t>
            </a:r>
            <a:endParaRPr lang="en-US" sz="1100" dirty="0"/>
          </a:p>
        </p:txBody>
      </p:sp>
      <p:sp>
        <p:nvSpPr>
          <p:cNvPr id="3" name="Text 1"/>
          <p:cNvSpPr/>
          <p:nvPr/>
        </p:nvSpPr>
        <p:spPr>
          <a:xfrm>
            <a:off x="609585" y="900584"/>
            <a:ext cx="10972526" cy="713184"/>
          </a:xfrm>
          <a:prstGeom prst="rect">
            <a:avLst/>
          </a:prstGeom>
          <a:noFill/>
          <a:ln/>
        </p:spPr>
        <p:txBody>
          <a:bodyPr wrap="square" lIns="0" tIns="0" rIns="0" bIns="0" rtlCol="0" anchor="t">
            <a:normAutofit/>
          </a:bodyPr>
          <a:lstStyle/>
          <a:p>
            <a:pPr algn="l" indent="0" marL="0">
              <a:lnSpc>
                <a:spcPct val="90000"/>
              </a:lnSpc>
              <a:buNone/>
            </a:pPr>
            <a:r>
              <a:rPr lang="en-US" sz="2600" spc="-78" kern="100" dirty="0">
                <a:solidFill>
                  <a:srgbClr val="F4EFEA"/>
                </a:solidFill>
                <a:latin typeface="Krona One" pitchFamily="34" charset="0"/>
                <a:ea typeface="Krona One" pitchFamily="34" charset="-122"/>
                <a:cs typeface="Krona One" pitchFamily="34" charset="-120"/>
              </a:rPr>
              <a:t>Time complexity drops from</a:t>
            </a:r>
            <a:endParaRPr lang="en-US" sz="2600" dirty="0"/>
          </a:p>
          <a:p>
            <a:pPr algn="l" indent="0" marL="0">
              <a:lnSpc>
                <a:spcPct val="90000"/>
              </a:lnSpc>
              <a:buNone/>
            </a:pPr>
            <a:r>
              <a:rPr lang="en-US" sz="2600" spc="-78" kern="100" dirty="0">
                <a:solidFill>
                  <a:srgbClr val="F58E84"/>
                </a:solidFill>
                <a:latin typeface="Krona One" pitchFamily="34" charset="0"/>
                <a:ea typeface="Krona One" pitchFamily="34" charset="-122"/>
                <a:cs typeface="Krona One" pitchFamily="34" charset="-120"/>
              </a:rPr>
              <a:t>O(2^n) to O(n)</a:t>
            </a:r>
            <a:endParaRPr lang="en-US" sz="2600" dirty="0"/>
          </a:p>
        </p:txBody>
      </p:sp>
      <p:sp>
        <p:nvSpPr>
          <p:cNvPr id="4" name="Shape 2"/>
          <p:cNvSpPr/>
          <p:nvPr/>
        </p:nvSpPr>
        <p:spPr>
          <a:xfrm>
            <a:off x="609585" y="1859954"/>
            <a:ext cx="3620798" cy="279301"/>
          </a:xfrm>
          <a:prstGeom prst="roundRect">
            <a:avLst>
              <a:gd name="adj" fmla="val 49999"/>
            </a:avLst>
          </a:prstGeom>
          <a:solidFill>
            <a:srgbClr val="F58E84"/>
          </a:solidFill>
          <a:ln/>
        </p:spPr>
      </p:sp>
      <p:sp>
        <p:nvSpPr>
          <p:cNvPr id="5" name="Text 3"/>
          <p:cNvSpPr/>
          <p:nvPr/>
        </p:nvSpPr>
        <p:spPr>
          <a:xfrm>
            <a:off x="609585" y="2537143"/>
            <a:ext cx="6309262" cy="297160"/>
          </a:xfrm>
          <a:prstGeom prst="rect">
            <a:avLst/>
          </a:prstGeom>
          <a:noFill/>
          <a:ln/>
        </p:spPr>
        <p:txBody>
          <a:bodyPr wrap="none" lIns="0" tIns="0" rIns="0" bIns="0" rtlCol="0" anchor="t"/>
          <a:lstStyle/>
          <a:p>
            <a:pPr algn="l" indent="0" marL="0">
              <a:lnSpc>
                <a:spcPct val="108000"/>
              </a:lnSpc>
              <a:buNone/>
            </a:pPr>
            <a:r>
              <a:rPr lang="en-US" sz="1800" dirty="0">
                <a:solidFill>
                  <a:srgbClr val="F4EFEA"/>
                </a:solidFill>
                <a:latin typeface="Open Sans SemiBold" pitchFamily="34" charset="0"/>
                <a:ea typeface="Open Sans SemiBold" pitchFamily="34" charset="-122"/>
                <a:cs typeface="Open Sans SemiBold" pitchFamily="34" charset="-120"/>
              </a:rPr>
              <a:t>Operations growth: naive vs memoized</a:t>
            </a:r>
            <a:endParaRPr lang="en-US" sz="1800" dirty="0"/>
          </a:p>
        </p:txBody>
      </p:sp>
      <p:pic>
        <p:nvPicPr>
          <p:cNvPr id="6" name="Image 0" descr="preencoded.png">    </p:cNvPr>
          <p:cNvPicPr>
            <a:picLocks noChangeAspect="1"/>
          </p:cNvPicPr>
          <p:nvPr/>
        </p:nvPicPr>
        <p:blipFill>
          <a:blip r:embed="rId1"/>
          <a:stretch>
            <a:fillRect/>
          </a:stretch>
        </p:blipFill>
        <p:spPr>
          <a:xfrm>
            <a:off x="609585" y="2945110"/>
            <a:ext cx="6222844" cy="2794000"/>
          </a:xfrm>
          <a:prstGeom prst="rect">
            <a:avLst/>
          </a:prstGeom>
        </p:spPr>
      </p:pic>
      <p:sp>
        <p:nvSpPr>
          <p:cNvPr id="7" name="Text 4"/>
          <p:cNvSpPr/>
          <p:nvPr/>
        </p:nvSpPr>
        <p:spPr>
          <a:xfrm>
            <a:off x="7375936" y="2674362"/>
            <a:ext cx="4206174" cy="297160"/>
          </a:xfrm>
          <a:prstGeom prst="rect">
            <a:avLst/>
          </a:prstGeom>
          <a:noFill/>
          <a:ln/>
        </p:spPr>
        <p:txBody>
          <a:bodyPr wrap="none" lIns="0" tIns="0" rIns="0" bIns="0" rtlCol="0" anchor="t"/>
          <a:lstStyle/>
          <a:p>
            <a:pPr algn="l" indent="0" marL="0">
              <a:lnSpc>
                <a:spcPct val="108000"/>
              </a:lnSpc>
              <a:buNone/>
            </a:pPr>
            <a:r>
              <a:rPr lang="en-US" sz="1800" dirty="0">
                <a:solidFill>
                  <a:srgbClr val="F4EFEA"/>
                </a:solidFill>
                <a:latin typeface="Open Sans SemiBold" pitchFamily="34" charset="0"/>
                <a:ea typeface="Open Sans SemiBold" pitchFamily="34" charset="-122"/>
                <a:cs typeface="Open Sans SemiBold" pitchFamily="34" charset="-120"/>
              </a:rPr>
              <a:t>Naive recursion</a:t>
            </a:r>
            <a:endParaRPr lang="en-US" sz="1800" dirty="0"/>
          </a:p>
        </p:txBody>
      </p:sp>
      <p:sp>
        <p:nvSpPr>
          <p:cNvPr id="8" name="Text 5"/>
          <p:cNvSpPr/>
          <p:nvPr/>
        </p:nvSpPr>
        <p:spPr>
          <a:xfrm>
            <a:off x="7375936" y="3113286"/>
            <a:ext cx="4206174" cy="552450"/>
          </a:xfrm>
          <a:prstGeom prst="rect">
            <a:avLst/>
          </a:prstGeom>
          <a:noFill/>
          <a:ln/>
        </p:spPr>
        <p:txBody>
          <a:bodyPr wrap="square" lIns="0" tIns="0" rIns="0" bIns="0" rtlCol="0" anchor="t">
            <a:normAutofit/>
          </a:bodyPr>
          <a:lstStyle/>
          <a:p>
            <a:pPr algn="l" indent="0" marL="0">
              <a:lnSpc>
                <a:spcPct val="121000"/>
              </a:lnSpc>
              <a:buNone/>
            </a:pPr>
            <a:r>
              <a:rPr lang="en-US" sz="1500" dirty="0">
                <a:solidFill>
                  <a:srgbClr val="F4EFEA"/>
                </a:solidFill>
                <a:latin typeface="Open Sans" pitchFamily="34" charset="0"/>
                <a:ea typeface="Open Sans" pitchFamily="34" charset="-122"/>
                <a:cs typeface="Open Sans" pitchFamily="34" charset="-120"/>
              </a:rPr>
              <a:t>Time: </a:t>
            </a:r>
            <a:pPr algn="l" indent="0" marL="0">
              <a:lnSpc>
                <a:spcPct val="121000"/>
              </a:lnSpc>
              <a:buNone/>
            </a:pPr>
            <a:r>
              <a:rPr lang="en-US" sz="1450" i="1" dirty="0">
                <a:solidFill>
                  <a:srgbClr val="F4EFEA"/>
                </a:solidFill>
                <a:latin typeface="Open Sans" pitchFamily="34" charset="0"/>
                <a:ea typeface="Open Sans" pitchFamily="34" charset="-122"/>
                <a:cs typeface="Open Sans" pitchFamily="34" charset="-120"/>
              </a:rPr>
              <a:t>   </a:t>
            </a:r>
            <a:pPr algn="l" indent="0" marL="0">
              <a:lnSpc>
                <a:spcPct val="121000"/>
              </a:lnSpc>
              <a:buNone/>
            </a:pPr>
            <a:r>
              <a:rPr lang="en-US" sz="1500" dirty="0">
                <a:solidFill>
                  <a:srgbClr val="F4EFEA"/>
                </a:solidFill>
                <a:latin typeface="Open Sans" pitchFamily="34" charset="0"/>
                <a:ea typeface="Open Sans" pitchFamily="34" charset="-122"/>
                <a:cs typeface="Open Sans" pitchFamily="34" charset="-120"/>
              </a:rPr>
              <a:t> (exponential explosion)</a:t>
            </a:r>
            <a:endParaRPr lang="en-US" sz="1500" dirty="0"/>
          </a:p>
          <a:p>
            <a:pPr algn="l" indent="0" marL="0">
              <a:lnSpc>
                <a:spcPct val="121000"/>
              </a:lnSpc>
              <a:buNone/>
            </a:pPr>
            <a:r>
              <a:rPr lang="en-US" sz="1500" dirty="0">
                <a:solidFill>
                  <a:srgbClr val="F4EFEA"/>
                </a:solidFill>
                <a:latin typeface="Open Sans" pitchFamily="34" charset="0"/>
                <a:ea typeface="Open Sans" pitchFamily="34" charset="-122"/>
                <a:cs typeface="Open Sans" pitchFamily="34" charset="-120"/>
              </a:rPr>
              <a:t>Space: </a:t>
            </a:r>
            <a:pPr algn="l" indent="0" marL="0">
              <a:lnSpc>
                <a:spcPct val="121000"/>
              </a:lnSpc>
              <a:buNone/>
            </a:pPr>
            <a:r>
              <a:rPr lang="en-US" sz="1450" i="1" dirty="0">
                <a:solidFill>
                  <a:srgbClr val="F4EFEA"/>
                </a:solidFill>
                <a:latin typeface="Open Sans" pitchFamily="34" charset="0"/>
                <a:ea typeface="Open Sans" pitchFamily="34" charset="-122"/>
                <a:cs typeface="Open Sans" pitchFamily="34" charset="-120"/>
              </a:rPr>
              <a:t>   </a:t>
            </a:r>
            <a:pPr algn="l" indent="0" marL="0">
              <a:lnSpc>
                <a:spcPct val="121000"/>
              </a:lnSpc>
              <a:buNone/>
            </a:pPr>
            <a:r>
              <a:rPr lang="en-US" sz="1500" dirty="0">
                <a:solidFill>
                  <a:srgbClr val="F4EFEA"/>
                </a:solidFill>
                <a:latin typeface="Open Sans" pitchFamily="34" charset="0"/>
                <a:ea typeface="Open Sans" pitchFamily="34" charset="-122"/>
                <a:cs typeface="Open Sans" pitchFamily="34" charset="-120"/>
              </a:rPr>
              <a:t> call stack depth</a:t>
            </a:r>
            <a:endParaRPr lang="en-US" sz="1500" dirty="0"/>
          </a:p>
        </p:txBody>
      </p:sp>
      <p:pic>
        <p:nvPicPr>
          <p:cNvPr id="9" name="Image 1" descr="preencoded.png">    </p:cNvPr>
          <p:cNvPicPr>
            <a:picLocks noChangeAspect="1"/>
          </p:cNvPicPr>
          <p:nvPr/>
        </p:nvPicPr>
        <p:blipFill>
          <a:blip r:embed="rId2"/>
          <a:stretch>
            <a:fillRect/>
          </a:stretch>
        </p:blipFill>
        <p:spPr>
          <a:xfrm>
            <a:off x="7911803" y="3149005"/>
            <a:ext cx="495486" cy="236041"/>
          </a:xfrm>
          <a:prstGeom prst="rect">
            <a:avLst/>
          </a:prstGeom>
        </p:spPr>
      </p:pic>
      <p:pic>
        <p:nvPicPr>
          <p:cNvPr id="10" name="Image 2" descr="preencoded.png">    </p:cNvPr>
          <p:cNvPicPr>
            <a:picLocks noChangeAspect="1"/>
          </p:cNvPicPr>
          <p:nvPr/>
        </p:nvPicPr>
        <p:blipFill>
          <a:blip r:embed="rId3"/>
          <a:stretch>
            <a:fillRect/>
          </a:stretch>
        </p:blipFill>
        <p:spPr>
          <a:xfrm>
            <a:off x="8000601" y="3425230"/>
            <a:ext cx="426630" cy="236041"/>
          </a:xfrm>
          <a:prstGeom prst="rect">
            <a:avLst/>
          </a:prstGeom>
        </p:spPr>
      </p:pic>
      <p:sp>
        <p:nvSpPr>
          <p:cNvPr id="11" name="Text 6"/>
          <p:cNvSpPr/>
          <p:nvPr/>
        </p:nvSpPr>
        <p:spPr>
          <a:xfrm>
            <a:off x="7375936" y="3933547"/>
            <a:ext cx="4206174" cy="297160"/>
          </a:xfrm>
          <a:prstGeom prst="rect">
            <a:avLst/>
          </a:prstGeom>
          <a:noFill/>
          <a:ln/>
        </p:spPr>
        <p:txBody>
          <a:bodyPr wrap="none" lIns="0" tIns="0" rIns="0" bIns="0" rtlCol="0" anchor="t"/>
          <a:lstStyle/>
          <a:p>
            <a:pPr algn="l" indent="0" marL="0">
              <a:lnSpc>
                <a:spcPct val="108000"/>
              </a:lnSpc>
              <a:buNone/>
            </a:pPr>
            <a:r>
              <a:rPr lang="en-US" sz="1800" dirty="0">
                <a:solidFill>
                  <a:srgbClr val="F4EFEA"/>
                </a:solidFill>
                <a:latin typeface="Open Sans SemiBold" pitchFamily="34" charset="0"/>
                <a:ea typeface="Open Sans SemiBold" pitchFamily="34" charset="-122"/>
                <a:cs typeface="Open Sans SemiBold" pitchFamily="34" charset="-120"/>
              </a:rPr>
              <a:t>Memoized approach</a:t>
            </a:r>
            <a:endParaRPr lang="en-US" sz="1800" dirty="0"/>
          </a:p>
        </p:txBody>
      </p:sp>
      <p:sp>
        <p:nvSpPr>
          <p:cNvPr id="12" name="Text 7"/>
          <p:cNvSpPr/>
          <p:nvPr/>
        </p:nvSpPr>
        <p:spPr>
          <a:xfrm>
            <a:off x="7375936" y="4372471"/>
            <a:ext cx="4206174" cy="552450"/>
          </a:xfrm>
          <a:prstGeom prst="rect">
            <a:avLst/>
          </a:prstGeom>
          <a:noFill/>
          <a:ln/>
        </p:spPr>
        <p:txBody>
          <a:bodyPr wrap="square" lIns="0" tIns="0" rIns="0" bIns="0" rtlCol="0" anchor="t">
            <a:normAutofit/>
          </a:bodyPr>
          <a:lstStyle/>
          <a:p>
            <a:pPr algn="l" indent="0" marL="0">
              <a:lnSpc>
                <a:spcPct val="121000"/>
              </a:lnSpc>
              <a:buNone/>
            </a:pPr>
            <a:r>
              <a:rPr lang="en-US" sz="1500" dirty="0">
                <a:solidFill>
                  <a:srgbClr val="F4EFEA"/>
                </a:solidFill>
                <a:latin typeface="Open Sans" pitchFamily="34" charset="0"/>
                <a:ea typeface="Open Sans" pitchFamily="34" charset="-122"/>
                <a:cs typeface="Open Sans" pitchFamily="34" charset="-120"/>
              </a:rPr>
              <a:t>Time: </a:t>
            </a:r>
            <a:pPr algn="l" indent="0" marL="0">
              <a:lnSpc>
                <a:spcPct val="121000"/>
              </a:lnSpc>
              <a:buNone/>
            </a:pPr>
            <a:r>
              <a:rPr lang="en-US" sz="1450" i="1" dirty="0">
                <a:solidFill>
                  <a:srgbClr val="F4EFEA"/>
                </a:solidFill>
                <a:latin typeface="Open Sans" pitchFamily="34" charset="0"/>
                <a:ea typeface="Open Sans" pitchFamily="34" charset="-122"/>
                <a:cs typeface="Open Sans" pitchFamily="34" charset="-120"/>
              </a:rPr>
              <a:t>   </a:t>
            </a:r>
            <a:pPr algn="l" indent="0" marL="0">
              <a:lnSpc>
                <a:spcPct val="121000"/>
              </a:lnSpc>
              <a:buNone/>
            </a:pPr>
            <a:r>
              <a:rPr lang="en-US" sz="1500" dirty="0">
                <a:solidFill>
                  <a:srgbClr val="F4EFEA"/>
                </a:solidFill>
                <a:latin typeface="Open Sans" pitchFamily="34" charset="0"/>
                <a:ea typeface="Open Sans" pitchFamily="34" charset="-122"/>
                <a:cs typeface="Open Sans" pitchFamily="34" charset="-120"/>
              </a:rPr>
              <a:t> (each state computed once)</a:t>
            </a:r>
            <a:endParaRPr lang="en-US" sz="1500" dirty="0"/>
          </a:p>
          <a:p>
            <a:pPr algn="l" indent="0" marL="0">
              <a:lnSpc>
                <a:spcPct val="121000"/>
              </a:lnSpc>
              <a:buNone/>
            </a:pPr>
            <a:r>
              <a:rPr lang="en-US" sz="1500" dirty="0">
                <a:solidFill>
                  <a:srgbClr val="F4EFEA"/>
                </a:solidFill>
                <a:latin typeface="Open Sans" pitchFamily="34" charset="0"/>
                <a:ea typeface="Open Sans" pitchFamily="34" charset="-122"/>
                <a:cs typeface="Open Sans" pitchFamily="34" charset="-120"/>
              </a:rPr>
              <a:t>Space: </a:t>
            </a:r>
            <a:pPr algn="l" indent="0" marL="0">
              <a:lnSpc>
                <a:spcPct val="121000"/>
              </a:lnSpc>
              <a:buNone/>
            </a:pPr>
            <a:r>
              <a:rPr lang="en-US" sz="1450" i="1" dirty="0">
                <a:solidFill>
                  <a:srgbClr val="F4EFEA"/>
                </a:solidFill>
                <a:latin typeface="Open Sans" pitchFamily="34" charset="0"/>
                <a:ea typeface="Open Sans" pitchFamily="34" charset="-122"/>
                <a:cs typeface="Open Sans" pitchFamily="34" charset="-120"/>
              </a:rPr>
              <a:t>   </a:t>
            </a:r>
            <a:pPr algn="l" indent="0" marL="0">
              <a:lnSpc>
                <a:spcPct val="121000"/>
              </a:lnSpc>
              <a:buNone/>
            </a:pPr>
            <a:r>
              <a:rPr lang="en-US" sz="1500" dirty="0">
                <a:solidFill>
                  <a:srgbClr val="F4EFEA"/>
                </a:solidFill>
                <a:latin typeface="Open Sans" pitchFamily="34" charset="0"/>
                <a:ea typeface="Open Sans" pitchFamily="34" charset="-122"/>
                <a:cs typeface="Open Sans" pitchFamily="34" charset="-120"/>
              </a:rPr>
              <a:t> memo array + stack depth</a:t>
            </a:r>
            <a:endParaRPr lang="en-US" sz="1500" dirty="0"/>
          </a:p>
        </p:txBody>
      </p:sp>
      <p:pic>
        <p:nvPicPr>
          <p:cNvPr id="13" name="Image 3" descr="preencoded.png">    </p:cNvPr>
          <p:cNvPicPr>
            <a:picLocks noChangeAspect="1"/>
          </p:cNvPicPr>
          <p:nvPr/>
        </p:nvPicPr>
        <p:blipFill>
          <a:blip r:embed="rId4"/>
          <a:stretch>
            <a:fillRect/>
          </a:stretch>
        </p:blipFill>
        <p:spPr>
          <a:xfrm>
            <a:off x="7911803" y="4408190"/>
            <a:ext cx="426630" cy="236041"/>
          </a:xfrm>
          <a:prstGeom prst="rect">
            <a:avLst/>
          </a:prstGeom>
        </p:spPr>
      </p:pic>
      <p:pic>
        <p:nvPicPr>
          <p:cNvPr id="14" name="Image 4" descr="preencoded.png">    </p:cNvPr>
          <p:cNvPicPr>
            <a:picLocks noChangeAspect="1"/>
          </p:cNvPicPr>
          <p:nvPr/>
        </p:nvPicPr>
        <p:blipFill>
          <a:blip r:embed="rId5"/>
          <a:stretch>
            <a:fillRect/>
          </a:stretch>
        </p:blipFill>
        <p:spPr>
          <a:xfrm>
            <a:off x="8000601" y="4684415"/>
            <a:ext cx="426630" cy="236041"/>
          </a:xfrm>
          <a:prstGeom prst="rect">
            <a:avLst/>
          </a:prstGeom>
        </p:spPr>
      </p:pic>
      <p:sp>
        <p:nvSpPr>
          <p:cNvPr id="15" name="Text 8"/>
          <p:cNvSpPr/>
          <p:nvPr/>
        </p:nvSpPr>
        <p:spPr>
          <a:xfrm>
            <a:off x="7375936" y="5178921"/>
            <a:ext cx="4206174" cy="552450"/>
          </a:xfrm>
          <a:prstGeom prst="rect">
            <a:avLst/>
          </a:prstGeom>
          <a:noFill/>
          <a:ln/>
        </p:spPr>
        <p:txBody>
          <a:bodyPr wrap="square" lIns="0" tIns="0" rIns="0" bIns="0" rtlCol="0" anchor="t">
            <a:normAutofit/>
          </a:bodyPr>
          <a:lstStyle/>
          <a:p>
            <a:pPr algn="l" indent="0" marL="0">
              <a:lnSpc>
                <a:spcPct val="121000"/>
              </a:lnSpc>
              <a:buNone/>
            </a:pPr>
            <a:r>
              <a:rPr lang="en-US" sz="1500" dirty="0">
                <a:solidFill>
                  <a:srgbClr val="F4EFEA"/>
                </a:solidFill>
                <a:latin typeface="Open Sans" pitchFamily="34" charset="0"/>
                <a:ea typeface="Open Sans" pitchFamily="34" charset="-122"/>
                <a:cs typeface="Open Sans" pitchFamily="34" charset="-120"/>
              </a:rPr>
              <a:t>Bottom-up tabulation: </a:t>
            </a:r>
            <a:pPr algn="l" indent="0" marL="0">
              <a:lnSpc>
                <a:spcPct val="121000"/>
              </a:lnSpc>
              <a:buNone/>
            </a:pPr>
            <a:r>
              <a:rPr lang="en-US" sz="1450" i="1" dirty="0">
                <a:solidFill>
                  <a:srgbClr val="F4EFEA"/>
                </a:solidFill>
                <a:latin typeface="Open Sans" pitchFamily="34" charset="0"/>
                <a:ea typeface="Open Sans" pitchFamily="34" charset="-122"/>
                <a:cs typeface="Open Sans" pitchFamily="34" charset="-120"/>
              </a:rPr>
              <a:t>   </a:t>
            </a:r>
            <a:pPr algn="l" indent="0" marL="0">
              <a:lnSpc>
                <a:spcPct val="121000"/>
              </a:lnSpc>
              <a:buNone/>
            </a:pPr>
            <a:r>
              <a:rPr lang="en-US" sz="1500" dirty="0">
                <a:solidFill>
                  <a:srgbClr val="F4EFEA"/>
                </a:solidFill>
                <a:latin typeface="Open Sans" pitchFamily="34" charset="0"/>
                <a:ea typeface="Open Sans" pitchFamily="34" charset="-122"/>
                <a:cs typeface="Open Sans" pitchFamily="34" charset="-120"/>
              </a:rPr>
              <a:t> runtime; </a:t>
            </a:r>
            <a:pPr algn="l" indent="0" marL="0">
              <a:lnSpc>
                <a:spcPct val="121000"/>
              </a:lnSpc>
              <a:buNone/>
            </a:pPr>
            <a:r>
              <a:rPr lang="en-US" sz="1450" i="1" dirty="0">
                <a:solidFill>
                  <a:srgbClr val="F4EFEA"/>
                </a:solidFill>
                <a:latin typeface="Open Sans" pitchFamily="34" charset="0"/>
                <a:ea typeface="Open Sans" pitchFamily="34" charset="-122"/>
                <a:cs typeface="Open Sans" pitchFamily="34" charset="-120"/>
              </a:rPr>
              <a:t>   </a:t>
            </a:r>
            <a:pPr algn="l" indent="0" marL="0">
              <a:lnSpc>
                <a:spcPct val="121000"/>
              </a:lnSpc>
              <a:buNone/>
            </a:pPr>
            <a:r>
              <a:rPr lang="en-US" sz="1500" dirty="0">
                <a:solidFill>
                  <a:srgbClr val="F4EFEA"/>
                </a:solidFill>
                <a:latin typeface="Open Sans" pitchFamily="34" charset="0"/>
                <a:ea typeface="Open Sans" pitchFamily="34" charset="-122"/>
                <a:cs typeface="Open Sans" pitchFamily="34" charset="-120"/>
              </a:rPr>
              <a:t> space with two variables.</a:t>
            </a:r>
            <a:endParaRPr lang="en-US" sz="1500" dirty="0"/>
          </a:p>
        </p:txBody>
      </p:sp>
      <p:pic>
        <p:nvPicPr>
          <p:cNvPr id="16" name="Image 5" descr="preencoded.png">    </p:cNvPr>
          <p:cNvPicPr>
            <a:picLocks noChangeAspect="1"/>
          </p:cNvPicPr>
          <p:nvPr/>
        </p:nvPicPr>
        <p:blipFill>
          <a:blip r:embed="rId6"/>
          <a:stretch>
            <a:fillRect/>
          </a:stretch>
        </p:blipFill>
        <p:spPr>
          <a:xfrm>
            <a:off x="9392506" y="5214640"/>
            <a:ext cx="426630" cy="236041"/>
          </a:xfrm>
          <a:prstGeom prst="rect">
            <a:avLst/>
          </a:prstGeom>
        </p:spPr>
      </p:pic>
      <p:pic>
        <p:nvPicPr>
          <p:cNvPr id="17" name="Image 6" descr="preencoded.png">    </p:cNvPr>
          <p:cNvPicPr>
            <a:picLocks noChangeAspect="1"/>
          </p:cNvPicPr>
          <p:nvPr/>
        </p:nvPicPr>
        <p:blipFill>
          <a:blip r:embed="rId7"/>
          <a:stretch>
            <a:fillRect/>
          </a:stretch>
        </p:blipFill>
        <p:spPr>
          <a:xfrm>
            <a:off x="10679044" y="5214640"/>
            <a:ext cx="408077" cy="236041"/>
          </a:xfrm>
          <a:prstGeom prst="rect">
            <a:avLst/>
          </a:prstGeom>
        </p:spPr>
      </p:pic>
      <p:sp>
        <p:nvSpPr>
          <p:cNvPr id="18" name="Text 9"/>
          <p:cNvSpPr/>
          <p:nvPr/>
        </p:nvSpPr>
        <p:spPr>
          <a:xfrm>
            <a:off x="609585" y="6073815"/>
            <a:ext cx="11582110" cy="181570"/>
          </a:xfrm>
          <a:prstGeom prst="rect">
            <a:avLst/>
          </a:prstGeom>
          <a:noFill/>
          <a:ln/>
        </p:spPr>
        <p:txBody>
          <a:bodyPr wrap="none" lIns="0" tIns="0" rIns="0" bIns="0" rtlCol="0" anchor="t"/>
          <a:lstStyle/>
          <a:p>
            <a:pPr algn="l" indent="0" marL="0">
              <a:lnSpc>
                <a:spcPct val="108000"/>
              </a:lnSpc>
              <a:buNone/>
            </a:pPr>
            <a:r>
              <a:rPr lang="en-US" sz="1100" spc="22" kern="100" dirty="0">
                <a:solidFill>
                  <a:srgbClr val="BFD3CB"/>
                </a:solidFill>
                <a:latin typeface="Azeret Mono" pitchFamily="34" charset="0"/>
                <a:ea typeface="Azeret Mono" pitchFamily="34" charset="-122"/>
                <a:cs typeface="Azeret Mono" pitchFamily="34" charset="-120"/>
              </a:rPr>
              <a:t>Values based on theoretical upper bound counts for naive execution trees versus linear state transitions.</a:t>
            </a:r>
            <a:endParaRPr lang="en-US" sz="1100" dirty="0"/>
          </a:p>
        </p:txBody>
      </p:sp>
      <p:sp>
        <p:nvSpPr>
          <p:cNvPr id="19" name="Shape 10"/>
          <p:cNvSpPr/>
          <p:nvPr/>
        </p:nvSpPr>
        <p:spPr>
          <a:xfrm>
            <a:off x="7375936" y="3784005"/>
            <a:ext cx="4206174" cy="12700"/>
          </a:xfrm>
          <a:prstGeom prst="rect">
            <a:avLst/>
          </a:prstGeom>
          <a:solidFill>
            <a:srgbClr val="2F6B61"/>
          </a:solidFill>
          <a:ln/>
        </p:spPr>
      </p:sp>
      <p:sp>
        <p:nvSpPr>
          <p:cNvPr id="20" name="Shape 11"/>
          <p:cNvSpPr/>
          <p:nvPr/>
        </p:nvSpPr>
        <p:spPr>
          <a:xfrm>
            <a:off x="7375936" y="5043190"/>
            <a:ext cx="4206174" cy="12700"/>
          </a:xfrm>
          <a:prstGeom prst="rect">
            <a:avLst/>
          </a:prstGeom>
          <a:solidFill>
            <a:srgbClr val="2F6B61"/>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2026-10-17T17:37:13Z</dcterms:created>
  <dcterms:modified xsi:type="dcterms:W3CDTF">2026-10-17T17:37:13Z</dcterms:modified>
</cp:coreProperties>
</file>